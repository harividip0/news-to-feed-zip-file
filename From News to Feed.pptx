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is about one practical skill: taking a news story or a research paper and turning it into content people will read on a social feed. We will cover four formats: the single post, the thread, the carousel and the reel script. By the end you will have a repeatable workflow you can run on any story, plus templates for each format. Encourage the audience to think of one article or study they read this week, because we will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why this is hard. News and research are written for depth: long, specialist, with the main finding often buried several paragraphs or pages in. A social feed is the opposite: people decide in a few seconds whether to stop, they are not specialists, and they see your post with no surrounding context. So repurposing is a translation task, more than a shortening task. The single sentence to land here: we carry one accurate idea across the gap. One idea, and it stays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whole session. Six steps: source, extract, angle, format, check, publish. Walk through them briefly, one line each, and tell the audience we will spend time on each. Point out that most people jump straight from step one to step four: they read something and start writing a post. Steps two and three, extracting and choosing an angle, are where the quality comes from. Step five protects your credibility. Keep this slide to about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is choosing what to work on. Use four tests. Relevant: does this change something for the people who follow you? Credible: can you name who produced it and how they reached the conclusion? Fresh: is it new, or newly relevant because of something happening now? Specific: does it contain a concrete finding or number you can point to? If a story fails two of these, skip it. A practical tip: keep a running list of five to ten trusted sources in your field, so that selection takes minutes each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is extraction. Before writing anything, answer five questions in a notes file. What is new? Who does it affect? What is the number? Why does it matter? What happens next? Each answer should be one sentence. If you cannot answer the first one in a sentence, you have not understood the source yet, so read it again. These five answers become your raw material for every format: the hook usually comes from question one or three, the body from two and four, and the closing line from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is the angle: the one idea a single piece of content carries. The same source usually supports several. The number angle leads with the most striking figure. The person angle shows what the finding means for one individual. The how-to angle converts the finding into steps. The myth angle corrects something people commonly believe. The discipline is to pick one per piece. The benefit: the angles you do not use today become next week's content, so one good source can feed you for several posts.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is matching the idea to a format. A single post suits one sharp finding. A thread suits an argument or a story that needs steps. A carousel suits anything list-shaped: frameworks, comparisons, step-by-step guides. A reel suits ideas you can show or say with energy, and it tends to reach people who do not follow you yet. The lengths on screen are sensible starting points, and you should adjust them based on your own analytics. Ask the audience: which format do you use most today, and which do you avoid?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This is the central idea of the session. The expensive part of content is understanding the source: reading it, extracting it, checking it. Once that is done, producing a second, third and fourth format costs far less than starting again from a new story. Each format also reaches a different kind of reader: some people read threads, some only swipe carousels, some only watch video. In the next section we build each of the four formats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post has four parts. The hook is the first line, and its only job is to stop the scroll. The context says who found this and how, which is what separates you from someone sharing an opinion. The takeaway tells the reader what to know or do. The source names and links the original. The bracketed examples on the right are fill-in templates: replace each bracket with the answers from your five extraction questions. Suggest the audience drafts one now using the story they thought of at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Hooks are the hardest line to write, so here are six patterns to start from. The number leads with a figure. The reversal contrasts a common assumption with what the data shows. The question raises curiosity. The stake tells a specific group this is about them. The timeline shows change over time. The plain claim simply states the finding and its source, and it is underrated. One rule for all six: the hook must be true to the source. If the study says "linked to", the hook cannot say "causes". Write three hooks for every post and pick the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thread is a sequence, so structure matters more than in a single post. Post one is the hook, and it should promise what the reader gets by continuing. Post two gives context: the source and what it looked at. Posts three to six carry the points, one idea each. Post seven explains the meaning: what changes for the reader. The final post links the source and asks one question to invite replies. Eight posts is an example length. A thread can be shorter, and it should end when the points run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craft habits for threads. Keep four things: a first post that makes sense alone, because most people only see that one; one idea per post; the key number in its own post so it can be shared separately; and the source link at the end. Drop four things: sentences that run across two posts, padding to hit a length, holding the finding back until the last post, and jargon lifted straight from the paper. A quick test: read any single post from the middle of your thread. If it makes sense alone, the thread is well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carousel is a small slide deck inside a feed. The cover carries a headline that states the payoff, because it competes with every other post. Slide two sets up the problem: why this matters now. Slide three gives the finding in one line. Slide four gives the proof: a number, a simple chart or a quote. Slide five explains the meaning for the reader. The last slide gives an action: a next step, the source, and a prompt to save or share. If the story has three results, repeat the finding and proof pair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design rules that apply whatever tool you use. One idea per slide: if a slide needs two sentences of explanation, split it. Large type: people read carousels on a phone, so check your draft on a phone before posting. A consistent frame: keep margins, colours and the title position identical so the reader's eye does not have to search. A reason to swipe: an arrow, a slide counter such as two of six, or a sentence that finishes on the next slide. Also put your handle or logo small on every slide, since slides get screenshotted and shared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reel script is written for the ear and the eye together. Take a 45-second reel as the example. The first three seconds are the hook: say or show the most surprising part immediately, with no greeting. Seconds three to ten give context: the source and why it matters now. Seconds ten to thirty-five are three beats, one point each, and every beat should come with a visual change such as a cut, a caption or a prop. The last ten seconds deliver the takeaway and one ask. The bar shows how much time each part gets: most of it goes to the three beats.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template to copy. Three columns: time, what is on screen, and what is said. Writing the screen column forces you to plan visuals before filming, which is where most reels fail. Fill the brackets from your five extraction answers. Write the voiceover in short spoken sentences and read it aloud with a timer: if it runs over, cut a beat instead of speaking faster. Add on-screen captions for every line, because many people watch with the sound off. Always put the source in the caption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put it together with a real example. Before presenting, replace the brackets on the left with a study or news story relevant to this audience, and prepare the four outputs to show or read aloud. Walk through how the same extraction notes fed each format: the post took the finding and one line of meaning; the thread added method and limits; the carousel turned three results into slides; the reel turned them into three spoken beats. Emphasise that the reading and checking were done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five is the check, and it protects your reputation. Six habits. Read the original, because headlines and press releases often overstate. Give numbers with their unit, sample and timeframe. Keep association and causation apart: if the study says linked to, you say linked to. Mention the limits the authors themselves mention. Name and link the source in every format, including reels and carousels. And when you get something wrong, correct it publicly and quickly. Simplifying is your job. Changing what the source says is where trust is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sustainable, give it a weekly rhythm. Monday: scan your trusted sources and pick two stories. Tuesday: extract, choose angles, and write the post and the thread. Wednesday: build the carousel and script the reel. Thursday: verify the facts, record, and schedule. Friday: read the replies and note which angle and format performed, so next week starts with evidence. This is one example schedule. A solo creator might compress it into two sessions, and a team might split the days between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action. Three things for this week. First, pick one story and answer the five extraction questions in writing. Second, publish it in two formats you rarely use, so you learn something new about your audience. Third, compare the results and keep what worked. Recap the whole session in one line: source, extract, angle, format, check, publish. Then open the floor for questions, and offer to share the templates from the post, thread, carousel and reel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4181F"/>
                </a:solidFill>
                <a:latin typeface="Libre Baskerville" pitchFamily="34" charset="0"/>
                <a:ea typeface="Libre Baskerville" pitchFamily="34" charset="-122"/>
                <a:cs typeface="Libre Baskervill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4181F"/>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4181F"/>
                </a:solidFill>
                <a:latin typeface="Libre Baskerville" pitchFamily="34" charset="0"/>
                <a:ea typeface="Libre Baskerville" pitchFamily="34" charset="-122"/>
                <a:cs typeface="Libre Baskervill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4181F"/>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2.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A5C"/>
                </a:solidFill>
                <a:latin typeface="DM Sans" pitchFamily="34" charset="0"/>
                <a:ea typeface="DM Sans" pitchFamily="34" charset="-122"/>
                <a:cs typeface="DM Sans" pitchFamily="34" charset="-120"/>
              </a:rPr>
              <a:t>A CONTENT REPURPOSING PLAYBOOK</a:t>
            </a:r>
            <a:endParaRPr lang="en-US" sz="1200" dirty="0"/>
          </a:p>
        </p:txBody>
      </p:sp>
      <p:sp>
        <p:nvSpPr>
          <p:cNvPr id="3" name="Text 1"/>
          <p:cNvSpPr/>
          <p:nvPr>
            <p:ph type="title"/>
          </p:nvPr>
        </p:nvSpPr>
        <p:spPr>
          <a:xfrm>
            <a:off x="812800" y="1229320"/>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6F2EA"/>
                </a:solidFill>
                <a:latin typeface="Libre Baskerville" pitchFamily="18" charset="0"/>
                <a:ea typeface="Libre Baskerville" pitchFamily="18" charset="-122"/>
                <a:cs typeface="Libre Baskerville" pitchFamily="18" charset="-120"/>
              </a:rPr>
              <a:t>From News to Feed</a:t>
            </a:r>
            <a:endParaRPr lang="en-US" sz="6000" dirty="0"/>
          </a:p>
        </p:txBody>
      </p:sp>
      <p:sp>
        <p:nvSpPr>
          <p:cNvPr id="4" name="Shape 2"/>
          <p:cNvSpPr/>
          <p:nvPr/>
        </p:nvSpPr>
        <p:spPr>
          <a:xfrm>
            <a:off x="812800" y="2270720"/>
            <a:ext cx="1016000" cy="50800"/>
          </a:xfrm>
          <a:prstGeom prst="rect">
            <a:avLst/>
          </a:prstGeom>
          <a:solidFill>
            <a:srgbClr val="FF8A5C"/>
          </a:solidFill>
          <a:ln/>
        </p:spPr>
      </p:sp>
      <p:sp>
        <p:nvSpPr>
          <p:cNvPr id="5" name="Text 3"/>
          <p:cNvSpPr/>
          <p:nvPr/>
        </p:nvSpPr>
        <p:spPr>
          <a:xfrm>
            <a:off x="812800" y="2524720"/>
            <a:ext cx="784860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D8D2C4"/>
                </a:solidFill>
                <a:latin typeface="DM Sans" pitchFamily="34" charset="0"/>
                <a:ea typeface="DM Sans" pitchFamily="34" charset="-122"/>
                <a:cs typeface="DM Sans" pitchFamily="34" charset="-120"/>
              </a:rPr>
              <a:t>Turning news and research into social posts, threads, carousels and reel scripts</a:t>
            </a:r>
            <a:endParaRPr lang="en-US" sz="2000" dirty="0"/>
          </a:p>
        </p:txBody>
      </p:sp>
      <p:sp>
        <p:nvSpPr>
          <p:cNvPr id="6" name="Text 4"/>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2A3"/>
                </a:solidFill>
                <a:latin typeface="DM Sans" pitchFamily="34" charset="0"/>
                <a:ea typeface="DM Sans" pitchFamily="34" charset="-122"/>
                <a:cs typeface="DM Sans" pitchFamily="34" charset="-120"/>
              </a:rPr>
              <a:t>[Presenter name]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3A18"/>
                </a:solidFill>
                <a:latin typeface="DM Sans" pitchFamily="34" charset="0"/>
                <a:ea typeface="DM Sans" pitchFamily="34" charset="-122"/>
                <a:cs typeface="DM Sans" pitchFamily="34" charset="-120"/>
              </a:rPr>
              <a:t>THE PROBLEM</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F"/>
                </a:solidFill>
                <a:latin typeface="Libre Baskerville" pitchFamily="18" charset="0"/>
                <a:ea typeface="Libre Baskerville" pitchFamily="18" charset="-122"/>
                <a:cs typeface="Libre Baskerville" pitchFamily="18" charset="-120"/>
              </a:rPr>
              <a:t>The gap between a finding and a feed</a:t>
            </a:r>
            <a:endParaRPr lang="en-US" sz="3600" dirty="0"/>
          </a:p>
        </p:txBody>
      </p:sp>
      <p:sp>
        <p:nvSpPr>
          <p:cNvPr id="4" name="Shape 2"/>
          <p:cNvSpPr/>
          <p:nvPr/>
        </p:nvSpPr>
        <p:spPr>
          <a:xfrm>
            <a:off x="815975" y="1938603"/>
            <a:ext cx="5179483" cy="2008717"/>
          </a:xfrm>
          <a:prstGeom prst="roundRect">
            <a:avLst>
              <a:gd name="adj" fmla="val 4900"/>
            </a:avLst>
          </a:prstGeom>
          <a:solidFill>
            <a:srgbClr val="FFFDF8"/>
          </a:solidFill>
          <a:ln w="6350">
            <a:solidFill>
              <a:srgbClr val="D9CFBC"/>
            </a:solidFill>
            <a:prstDash val="solid"/>
          </a:ln>
        </p:spPr>
      </p:sp>
      <p:sp>
        <p:nvSpPr>
          <p:cNvPr id="5" name="Text 3"/>
          <p:cNvSpPr/>
          <p:nvPr/>
        </p:nvSpPr>
        <p:spPr>
          <a:xfrm>
            <a:off x="1071033" y="2193661"/>
            <a:ext cx="480944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How news and research arrive</a:t>
            </a:r>
            <a:endParaRPr lang="en-US" sz="2000" dirty="0"/>
          </a:p>
        </p:txBody>
      </p:sp>
      <p:sp>
        <p:nvSpPr>
          <p:cNvPr id="6" name="Text 4"/>
          <p:cNvSpPr/>
          <p:nvPr/>
        </p:nvSpPr>
        <p:spPr>
          <a:xfrm>
            <a:off x="1155615" y="2625461"/>
            <a:ext cx="4717246" cy="10922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3B4150"/>
                </a:solidFill>
                <a:latin typeface="DM Sans" pitchFamily="34" charset="0"/>
                <a:ea typeface="DM Sans" pitchFamily="34" charset="-122"/>
                <a:cs typeface="DM Sans" pitchFamily="34" charset="-120"/>
              </a:rPr>
              <a:t>Long articles, reports and PDFs</a:t>
            </a:r>
            <a:endParaRPr lang="en-US" sz="1400" dirty="0"/>
          </a:p>
          <a:p>
            <a:pPr algn="l" marL="169418" indent="-169418">
              <a:lnSpc>
                <a:spcPts val="2100"/>
              </a:lnSpc>
              <a:buSzPct val="100000"/>
              <a:buChar char="•"/>
            </a:pPr>
            <a:r>
              <a:rPr lang="en-US" sz="1400" dirty="0">
                <a:solidFill>
                  <a:srgbClr val="3B4150"/>
                </a:solidFill>
                <a:latin typeface="DM Sans" pitchFamily="34" charset="0"/>
                <a:ea typeface="DM Sans" pitchFamily="34" charset="-122"/>
                <a:cs typeface="DM Sans" pitchFamily="34" charset="-120"/>
              </a:rPr>
              <a:t>Written for specialists</a:t>
            </a:r>
            <a:endParaRPr lang="en-US" sz="1400" dirty="0"/>
          </a:p>
          <a:p>
            <a:pPr algn="l" marL="169418" indent="-169418">
              <a:lnSpc>
                <a:spcPts val="2100"/>
              </a:lnSpc>
              <a:buSzPct val="100000"/>
              <a:buChar char="•"/>
            </a:pPr>
            <a:r>
              <a:rPr lang="en-US" sz="1400" dirty="0">
                <a:solidFill>
                  <a:srgbClr val="3B4150"/>
                </a:solidFill>
                <a:latin typeface="DM Sans" pitchFamily="34" charset="0"/>
                <a:ea typeface="DM Sans" pitchFamily="34" charset="-122"/>
                <a:cs typeface="DM Sans" pitchFamily="34" charset="-120"/>
              </a:rPr>
              <a:t>The key finding sits deep in the text</a:t>
            </a:r>
            <a:endParaRPr lang="en-US" sz="1400" dirty="0"/>
          </a:p>
          <a:p>
            <a:pPr algn="l" marL="169418" indent="-169418">
              <a:lnSpc>
                <a:spcPts val="2100"/>
              </a:lnSpc>
              <a:buSzPct val="100000"/>
              <a:buChar char="•"/>
            </a:pPr>
            <a:r>
              <a:rPr lang="en-US" sz="1400" dirty="0">
                <a:solidFill>
                  <a:srgbClr val="3B4150"/>
                </a:solidFill>
                <a:latin typeface="DM Sans" pitchFamily="34" charset="0"/>
                <a:ea typeface="DM Sans" pitchFamily="34" charset="-122"/>
                <a:cs typeface="DM Sans" pitchFamily="34" charset="-120"/>
              </a:rPr>
              <a:t>Background knowledge is assumed</a:t>
            </a:r>
            <a:endParaRPr lang="en-US" sz="1400" dirty="0"/>
          </a:p>
        </p:txBody>
      </p:sp>
      <p:sp>
        <p:nvSpPr>
          <p:cNvPr id="7" name="Shape 5"/>
          <p:cNvSpPr/>
          <p:nvPr/>
        </p:nvSpPr>
        <p:spPr>
          <a:xfrm>
            <a:off x="6201833" y="1935428"/>
            <a:ext cx="5177367" cy="2015067"/>
          </a:xfrm>
          <a:prstGeom prst="roundRect">
            <a:avLst>
              <a:gd name="adj" fmla="val 5042"/>
            </a:avLst>
          </a:prstGeom>
          <a:solidFill>
            <a:srgbClr val="14181F"/>
          </a:solidFill>
          <a:ln/>
        </p:spPr>
      </p:sp>
      <p:sp>
        <p:nvSpPr>
          <p:cNvPr id="8" name="Text 6"/>
          <p:cNvSpPr/>
          <p:nvPr/>
        </p:nvSpPr>
        <p:spPr>
          <a:xfrm>
            <a:off x="6455833" y="2189428"/>
            <a:ext cx="480944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2EA"/>
                </a:solidFill>
                <a:latin typeface="DM Sans" pitchFamily="34" charset="0"/>
                <a:ea typeface="DM Sans" pitchFamily="34" charset="-122"/>
                <a:cs typeface="DM Sans" pitchFamily="34" charset="-120"/>
              </a:rPr>
              <a:t>How people read a feed</a:t>
            </a:r>
            <a:endParaRPr lang="en-US" sz="2000" dirty="0"/>
          </a:p>
        </p:txBody>
      </p:sp>
      <p:sp>
        <p:nvSpPr>
          <p:cNvPr id="9" name="Text 7"/>
          <p:cNvSpPr/>
          <p:nvPr/>
        </p:nvSpPr>
        <p:spPr>
          <a:xfrm>
            <a:off x="6540415" y="2621228"/>
            <a:ext cx="4717246" cy="10922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D8D2C4"/>
                </a:solidFill>
                <a:latin typeface="DM Sans" pitchFamily="34" charset="0"/>
                <a:ea typeface="DM Sans" pitchFamily="34" charset="-122"/>
                <a:cs typeface="DM Sans" pitchFamily="34" charset="-120"/>
              </a:rPr>
              <a:t>A few seconds to earn attention</a:t>
            </a:r>
            <a:endParaRPr lang="en-US" sz="1400" dirty="0"/>
          </a:p>
          <a:p>
            <a:pPr algn="l" marL="169418" indent="-169418">
              <a:lnSpc>
                <a:spcPts val="2100"/>
              </a:lnSpc>
              <a:buSzPct val="100000"/>
              <a:buChar char="•"/>
            </a:pPr>
            <a:r>
              <a:rPr lang="en-US" sz="1400" dirty="0">
                <a:solidFill>
                  <a:srgbClr val="D8D2C4"/>
                </a:solidFill>
                <a:latin typeface="DM Sans" pitchFamily="34" charset="0"/>
                <a:ea typeface="DM Sans" pitchFamily="34" charset="-122"/>
                <a:cs typeface="DM Sans" pitchFamily="34" charset="-120"/>
              </a:rPr>
              <a:t>Written for a general reader</a:t>
            </a:r>
            <a:endParaRPr lang="en-US" sz="1400" dirty="0"/>
          </a:p>
          <a:p>
            <a:pPr algn="l" marL="169418" indent="-169418">
              <a:lnSpc>
                <a:spcPts val="2100"/>
              </a:lnSpc>
              <a:buSzPct val="100000"/>
              <a:buChar char="•"/>
            </a:pPr>
            <a:r>
              <a:rPr lang="en-US" sz="1400" dirty="0">
                <a:solidFill>
                  <a:srgbClr val="D8D2C4"/>
                </a:solidFill>
                <a:latin typeface="DM Sans" pitchFamily="34" charset="0"/>
                <a:ea typeface="DM Sans" pitchFamily="34" charset="-122"/>
                <a:cs typeface="DM Sans" pitchFamily="34" charset="-120"/>
              </a:rPr>
              <a:t>One idea at a time</a:t>
            </a:r>
            <a:endParaRPr lang="en-US" sz="1400" dirty="0"/>
          </a:p>
          <a:p>
            <a:pPr algn="l" marL="169418" indent="-169418">
              <a:lnSpc>
                <a:spcPts val="2100"/>
              </a:lnSpc>
              <a:buSzPct val="100000"/>
              <a:buChar char="•"/>
            </a:pPr>
            <a:r>
              <a:rPr lang="en-US" sz="1400" dirty="0">
                <a:solidFill>
                  <a:srgbClr val="D8D2C4"/>
                </a:solidFill>
                <a:latin typeface="DM Sans" pitchFamily="34" charset="0"/>
                <a:ea typeface="DM Sans" pitchFamily="34" charset="-122"/>
                <a:cs typeface="DM Sans" pitchFamily="34" charset="-120"/>
              </a:rPr>
              <a:t>Context has to be in the post itself</a:t>
            </a:r>
            <a:endParaRPr lang="en-US" sz="1400" dirty="0"/>
          </a:p>
        </p:txBody>
      </p:sp>
      <p:sp>
        <p:nvSpPr>
          <p:cNvPr id="10" name="Text 8"/>
          <p:cNvSpPr/>
          <p:nvPr/>
        </p:nvSpPr>
        <p:spPr>
          <a:xfrm>
            <a:off x="812800" y="4255294"/>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81F"/>
                </a:solidFill>
                <a:latin typeface="DM Sans" pitchFamily="34" charset="0"/>
                <a:ea typeface="DM Sans" pitchFamily="34" charset="-122"/>
                <a:cs typeface="DM Sans" pitchFamily="34" charset="-120"/>
              </a:rPr>
              <a:t>The job is to carry one accurate idea across that gap.</a:t>
            </a:r>
            <a:endParaRPr lang="en-US" sz="1400" dirty="0"/>
          </a:p>
        </p:txBody>
      </p:sp>
      <p:sp>
        <p:nvSpPr>
          <p:cNvPr id="11" name="Text 9"/>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849"/>
                </a:solidFill>
                <a:latin typeface="DM Sans" pitchFamily="34" charset="0"/>
                <a:ea typeface="DM Sans" pitchFamily="34" charset="-122"/>
                <a:cs typeface="DM Sans" pitchFamily="34" charset="-120"/>
              </a:rPr>
              <a:t>From News to Feed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3A18"/>
                </a:solidFill>
                <a:latin typeface="DM Sans" pitchFamily="34" charset="0"/>
                <a:ea typeface="DM Sans" pitchFamily="34" charset="-122"/>
                <a:cs typeface="DM Sans" pitchFamily="34" charset="-120"/>
              </a:rPr>
              <a:t>THE WORKFLOW</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F"/>
                </a:solidFill>
                <a:latin typeface="Libre Baskerville" pitchFamily="18" charset="0"/>
                <a:ea typeface="Libre Baskerville" pitchFamily="18" charset="-122"/>
                <a:cs typeface="Libre Baskerville" pitchFamily="18" charset="-120"/>
              </a:rPr>
              <a:t>The six-step workflow</a:t>
            </a:r>
            <a:endParaRPr lang="en-US" sz="3600" dirty="0"/>
          </a:p>
        </p:txBody>
      </p:sp>
      <p:sp>
        <p:nvSpPr>
          <p:cNvPr id="4" name="Shape 2"/>
          <p:cNvSpPr/>
          <p:nvPr/>
        </p:nvSpPr>
        <p:spPr>
          <a:xfrm>
            <a:off x="815975" y="1938603"/>
            <a:ext cx="1629106" cy="2166144"/>
          </a:xfrm>
          <a:prstGeom prst="roundRect">
            <a:avLst>
              <a:gd name="adj" fmla="val 6042"/>
            </a:avLst>
          </a:prstGeom>
          <a:solidFill>
            <a:srgbClr val="FFFDF8"/>
          </a:solidFill>
          <a:ln w="6350">
            <a:solidFill>
              <a:srgbClr val="D9CFBC"/>
            </a:solidFill>
            <a:prstDash val="solid"/>
          </a:ln>
        </p:spPr>
      </p:sp>
      <p:sp>
        <p:nvSpPr>
          <p:cNvPr id="5" name="Text 3"/>
          <p:cNvSpPr/>
          <p:nvPr/>
        </p:nvSpPr>
        <p:spPr>
          <a:xfrm>
            <a:off x="994833" y="2117461"/>
            <a:ext cx="132218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3A18"/>
                </a:solidFill>
                <a:latin typeface="DM Sans" pitchFamily="34" charset="0"/>
                <a:ea typeface="DM Sans" pitchFamily="34" charset="-122"/>
                <a:cs typeface="DM Sans" pitchFamily="34" charset="-120"/>
              </a:rPr>
              <a:t>1</a:t>
            </a:r>
            <a:endParaRPr lang="en-US" sz="2000" dirty="0"/>
          </a:p>
        </p:txBody>
      </p:sp>
      <p:sp>
        <p:nvSpPr>
          <p:cNvPr id="6" name="Text 4"/>
          <p:cNvSpPr/>
          <p:nvPr/>
        </p:nvSpPr>
        <p:spPr>
          <a:xfrm>
            <a:off x="994833" y="2549261"/>
            <a:ext cx="13221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Source</a:t>
            </a:r>
            <a:endParaRPr lang="en-US" sz="2000" dirty="0"/>
          </a:p>
        </p:txBody>
      </p:sp>
      <p:sp>
        <p:nvSpPr>
          <p:cNvPr id="7" name="Text 5"/>
          <p:cNvSpPr/>
          <p:nvPr/>
        </p:nvSpPr>
        <p:spPr>
          <a:xfrm>
            <a:off x="994833" y="2930261"/>
            <a:ext cx="1322189" cy="102102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Pick a story worth your audience's time</a:t>
            </a:r>
            <a:endParaRPr lang="en-US" sz="1400" dirty="0"/>
          </a:p>
        </p:txBody>
      </p:sp>
      <p:sp>
        <p:nvSpPr>
          <p:cNvPr id="8" name="Shape 6"/>
          <p:cNvSpPr/>
          <p:nvPr/>
        </p:nvSpPr>
        <p:spPr>
          <a:xfrm>
            <a:off x="2603831" y="1938603"/>
            <a:ext cx="1629172" cy="2166144"/>
          </a:xfrm>
          <a:prstGeom prst="roundRect">
            <a:avLst>
              <a:gd name="adj" fmla="val 6041"/>
            </a:avLst>
          </a:prstGeom>
          <a:solidFill>
            <a:srgbClr val="FFFDF8"/>
          </a:solidFill>
          <a:ln w="6350">
            <a:solidFill>
              <a:srgbClr val="D9CFBC"/>
            </a:solidFill>
            <a:prstDash val="solid"/>
          </a:ln>
        </p:spPr>
      </p:sp>
      <p:sp>
        <p:nvSpPr>
          <p:cNvPr id="9" name="Text 7"/>
          <p:cNvSpPr/>
          <p:nvPr/>
        </p:nvSpPr>
        <p:spPr>
          <a:xfrm>
            <a:off x="2782689" y="2117461"/>
            <a:ext cx="132225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3A18"/>
                </a:solidFill>
                <a:latin typeface="DM Sans" pitchFamily="34" charset="0"/>
                <a:ea typeface="DM Sans" pitchFamily="34" charset="-122"/>
                <a:cs typeface="DM Sans" pitchFamily="34" charset="-120"/>
              </a:rPr>
              <a:t>2</a:t>
            </a:r>
            <a:endParaRPr lang="en-US" sz="2000" dirty="0"/>
          </a:p>
        </p:txBody>
      </p:sp>
      <p:sp>
        <p:nvSpPr>
          <p:cNvPr id="10" name="Text 8"/>
          <p:cNvSpPr/>
          <p:nvPr/>
        </p:nvSpPr>
        <p:spPr>
          <a:xfrm>
            <a:off x="2782689" y="2549261"/>
            <a:ext cx="13222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Extract</a:t>
            </a:r>
            <a:endParaRPr lang="en-US" sz="2000" dirty="0"/>
          </a:p>
        </p:txBody>
      </p:sp>
      <p:sp>
        <p:nvSpPr>
          <p:cNvPr id="11" name="Text 9"/>
          <p:cNvSpPr/>
          <p:nvPr/>
        </p:nvSpPr>
        <p:spPr>
          <a:xfrm>
            <a:off x="2782689" y="2930261"/>
            <a:ext cx="1322255"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Pull the finding, the number and the stakes</a:t>
            </a:r>
            <a:endParaRPr lang="en-US" sz="1400" dirty="0"/>
          </a:p>
        </p:txBody>
      </p:sp>
      <p:sp>
        <p:nvSpPr>
          <p:cNvPr id="12" name="Shape 10"/>
          <p:cNvSpPr/>
          <p:nvPr/>
        </p:nvSpPr>
        <p:spPr>
          <a:xfrm>
            <a:off x="4391753" y="1938603"/>
            <a:ext cx="1629106" cy="2166144"/>
          </a:xfrm>
          <a:prstGeom prst="roundRect">
            <a:avLst>
              <a:gd name="adj" fmla="val 6042"/>
            </a:avLst>
          </a:prstGeom>
          <a:solidFill>
            <a:srgbClr val="FFFDF8"/>
          </a:solidFill>
          <a:ln w="6350">
            <a:solidFill>
              <a:srgbClr val="D9CFBC"/>
            </a:solidFill>
            <a:prstDash val="solid"/>
          </a:ln>
        </p:spPr>
      </p:sp>
      <p:sp>
        <p:nvSpPr>
          <p:cNvPr id="13" name="Text 11"/>
          <p:cNvSpPr/>
          <p:nvPr/>
        </p:nvSpPr>
        <p:spPr>
          <a:xfrm>
            <a:off x="4570611" y="2117461"/>
            <a:ext cx="132218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3A18"/>
                </a:solidFill>
                <a:latin typeface="DM Sans" pitchFamily="34" charset="0"/>
                <a:ea typeface="DM Sans" pitchFamily="34" charset="-122"/>
                <a:cs typeface="DM Sans" pitchFamily="34" charset="-120"/>
              </a:rPr>
              <a:t>3</a:t>
            </a:r>
            <a:endParaRPr lang="en-US" sz="2000" dirty="0"/>
          </a:p>
        </p:txBody>
      </p:sp>
      <p:sp>
        <p:nvSpPr>
          <p:cNvPr id="14" name="Text 12"/>
          <p:cNvSpPr/>
          <p:nvPr/>
        </p:nvSpPr>
        <p:spPr>
          <a:xfrm>
            <a:off x="4570611" y="2549261"/>
            <a:ext cx="13221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Angle</a:t>
            </a:r>
            <a:endParaRPr lang="en-US" sz="2000" dirty="0"/>
          </a:p>
        </p:txBody>
      </p:sp>
      <p:sp>
        <p:nvSpPr>
          <p:cNvPr id="15" name="Text 13"/>
          <p:cNvSpPr/>
          <p:nvPr/>
        </p:nvSpPr>
        <p:spPr>
          <a:xfrm>
            <a:off x="4570611" y="2930261"/>
            <a:ext cx="1322189"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Choose the one idea this piece carries</a:t>
            </a:r>
            <a:endParaRPr lang="en-US" sz="1400" dirty="0"/>
          </a:p>
        </p:txBody>
      </p:sp>
      <p:sp>
        <p:nvSpPr>
          <p:cNvPr id="16" name="Shape 14"/>
          <p:cNvSpPr/>
          <p:nvPr/>
        </p:nvSpPr>
        <p:spPr>
          <a:xfrm>
            <a:off x="6179608" y="1938603"/>
            <a:ext cx="1629172" cy="2166144"/>
          </a:xfrm>
          <a:prstGeom prst="roundRect">
            <a:avLst>
              <a:gd name="adj" fmla="val 6041"/>
            </a:avLst>
          </a:prstGeom>
          <a:solidFill>
            <a:srgbClr val="FFFDF8"/>
          </a:solidFill>
          <a:ln w="6350">
            <a:solidFill>
              <a:srgbClr val="D9CFBC"/>
            </a:solidFill>
            <a:prstDash val="solid"/>
          </a:ln>
        </p:spPr>
      </p:sp>
      <p:sp>
        <p:nvSpPr>
          <p:cNvPr id="17" name="Text 15"/>
          <p:cNvSpPr/>
          <p:nvPr/>
        </p:nvSpPr>
        <p:spPr>
          <a:xfrm>
            <a:off x="6358467" y="2117461"/>
            <a:ext cx="132225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3A18"/>
                </a:solidFill>
                <a:latin typeface="DM Sans" pitchFamily="34" charset="0"/>
                <a:ea typeface="DM Sans" pitchFamily="34" charset="-122"/>
                <a:cs typeface="DM Sans" pitchFamily="34" charset="-120"/>
              </a:rPr>
              <a:t>4</a:t>
            </a:r>
            <a:endParaRPr lang="en-US" sz="2000" dirty="0"/>
          </a:p>
        </p:txBody>
      </p:sp>
      <p:sp>
        <p:nvSpPr>
          <p:cNvPr id="18" name="Text 16"/>
          <p:cNvSpPr/>
          <p:nvPr/>
        </p:nvSpPr>
        <p:spPr>
          <a:xfrm>
            <a:off x="6358467" y="2549261"/>
            <a:ext cx="13222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Format</a:t>
            </a:r>
            <a:endParaRPr lang="en-US" sz="2000" dirty="0"/>
          </a:p>
        </p:txBody>
      </p:sp>
      <p:sp>
        <p:nvSpPr>
          <p:cNvPr id="19" name="Text 17"/>
          <p:cNvSpPr/>
          <p:nvPr/>
        </p:nvSpPr>
        <p:spPr>
          <a:xfrm>
            <a:off x="6358467" y="2930261"/>
            <a:ext cx="1322255" cy="102102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Match the idea to a post, thread, carousel or reel</a:t>
            </a:r>
            <a:endParaRPr lang="en-US" sz="1400" dirty="0"/>
          </a:p>
        </p:txBody>
      </p:sp>
      <p:sp>
        <p:nvSpPr>
          <p:cNvPr id="20" name="Shape 18"/>
          <p:cNvSpPr/>
          <p:nvPr/>
        </p:nvSpPr>
        <p:spPr>
          <a:xfrm>
            <a:off x="7967531" y="1938603"/>
            <a:ext cx="1629106" cy="2166144"/>
          </a:xfrm>
          <a:prstGeom prst="roundRect">
            <a:avLst>
              <a:gd name="adj" fmla="val 6042"/>
            </a:avLst>
          </a:prstGeom>
          <a:solidFill>
            <a:srgbClr val="FFFDF8"/>
          </a:solidFill>
          <a:ln w="6350">
            <a:solidFill>
              <a:srgbClr val="D9CFBC"/>
            </a:solidFill>
            <a:prstDash val="solid"/>
          </a:ln>
        </p:spPr>
      </p:sp>
      <p:sp>
        <p:nvSpPr>
          <p:cNvPr id="21" name="Text 19"/>
          <p:cNvSpPr/>
          <p:nvPr/>
        </p:nvSpPr>
        <p:spPr>
          <a:xfrm>
            <a:off x="8146389" y="2117461"/>
            <a:ext cx="132218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3A18"/>
                </a:solidFill>
                <a:latin typeface="DM Sans" pitchFamily="34" charset="0"/>
                <a:ea typeface="DM Sans" pitchFamily="34" charset="-122"/>
                <a:cs typeface="DM Sans" pitchFamily="34" charset="-120"/>
              </a:rPr>
              <a:t>5</a:t>
            </a:r>
            <a:endParaRPr lang="en-US" sz="2000" dirty="0"/>
          </a:p>
        </p:txBody>
      </p:sp>
      <p:sp>
        <p:nvSpPr>
          <p:cNvPr id="22" name="Text 20"/>
          <p:cNvSpPr/>
          <p:nvPr/>
        </p:nvSpPr>
        <p:spPr>
          <a:xfrm>
            <a:off x="8146389" y="2549261"/>
            <a:ext cx="13221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Check</a:t>
            </a:r>
            <a:endParaRPr lang="en-US" sz="2000" dirty="0"/>
          </a:p>
        </p:txBody>
      </p:sp>
      <p:sp>
        <p:nvSpPr>
          <p:cNvPr id="23" name="Text 21"/>
          <p:cNvSpPr/>
          <p:nvPr/>
        </p:nvSpPr>
        <p:spPr>
          <a:xfrm>
            <a:off x="8146389" y="2930261"/>
            <a:ext cx="1322189"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Verify the facts and credit the source</a:t>
            </a:r>
            <a:endParaRPr lang="en-US" sz="1400" dirty="0"/>
          </a:p>
        </p:txBody>
      </p:sp>
      <p:sp>
        <p:nvSpPr>
          <p:cNvPr id="24" name="Shape 22"/>
          <p:cNvSpPr/>
          <p:nvPr/>
        </p:nvSpPr>
        <p:spPr>
          <a:xfrm>
            <a:off x="9752211" y="1935428"/>
            <a:ext cx="1626989" cy="2172494"/>
          </a:xfrm>
          <a:prstGeom prst="roundRect">
            <a:avLst>
              <a:gd name="adj" fmla="val 6245"/>
            </a:avLst>
          </a:prstGeom>
          <a:solidFill>
            <a:srgbClr val="14181F"/>
          </a:solidFill>
          <a:ln/>
        </p:spPr>
      </p:sp>
      <p:sp>
        <p:nvSpPr>
          <p:cNvPr id="25" name="Text 23"/>
          <p:cNvSpPr/>
          <p:nvPr/>
        </p:nvSpPr>
        <p:spPr>
          <a:xfrm>
            <a:off x="9930011" y="2113228"/>
            <a:ext cx="132218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8A5C"/>
                </a:solidFill>
                <a:latin typeface="DM Sans" pitchFamily="34" charset="0"/>
                <a:ea typeface="DM Sans" pitchFamily="34" charset="-122"/>
                <a:cs typeface="DM Sans" pitchFamily="34" charset="-120"/>
              </a:rPr>
              <a:t>6</a:t>
            </a:r>
            <a:endParaRPr lang="en-US" sz="2000" dirty="0"/>
          </a:p>
        </p:txBody>
      </p:sp>
      <p:sp>
        <p:nvSpPr>
          <p:cNvPr id="26" name="Text 24"/>
          <p:cNvSpPr/>
          <p:nvPr/>
        </p:nvSpPr>
        <p:spPr>
          <a:xfrm>
            <a:off x="9930011" y="2545028"/>
            <a:ext cx="13221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2EA"/>
                </a:solidFill>
                <a:latin typeface="DM Sans" pitchFamily="34" charset="0"/>
                <a:ea typeface="DM Sans" pitchFamily="34" charset="-122"/>
                <a:cs typeface="DM Sans" pitchFamily="34" charset="-120"/>
              </a:rPr>
              <a:t>Publish</a:t>
            </a:r>
            <a:endParaRPr lang="en-US" sz="2000" dirty="0"/>
          </a:p>
        </p:txBody>
      </p:sp>
      <p:sp>
        <p:nvSpPr>
          <p:cNvPr id="27" name="Text 25"/>
          <p:cNvSpPr/>
          <p:nvPr/>
        </p:nvSpPr>
        <p:spPr>
          <a:xfrm>
            <a:off x="9930011" y="2926028"/>
            <a:ext cx="1322189"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8D2C4"/>
                </a:solidFill>
                <a:latin typeface="DM Sans" pitchFamily="34" charset="0"/>
                <a:ea typeface="DM Sans" pitchFamily="34" charset="-122"/>
                <a:cs typeface="DM Sans" pitchFamily="34" charset="-120"/>
              </a:rPr>
              <a:t>Post, read replies, reuse what works</a:t>
            </a:r>
            <a:endParaRPr lang="en-US" sz="1400" dirty="0"/>
          </a:p>
        </p:txBody>
      </p:sp>
      <p:sp>
        <p:nvSpPr>
          <p:cNvPr id="28" name="Text 26"/>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849"/>
                </a:solidFill>
                <a:latin typeface="DM Sans" pitchFamily="34" charset="0"/>
                <a:ea typeface="DM Sans" pitchFamily="34" charset="-122"/>
                <a:cs typeface="DM Sans" pitchFamily="34" charset="-120"/>
              </a:rPr>
              <a:t>From News to Feed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3A18"/>
                </a:solidFill>
                <a:latin typeface="DM Sans" pitchFamily="34" charset="0"/>
                <a:ea typeface="DM Sans" pitchFamily="34" charset="-122"/>
                <a:cs typeface="DM Sans" pitchFamily="34" charset="-120"/>
              </a:rPr>
              <a:t>STEP 1 · SOURCE</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F"/>
                </a:solidFill>
                <a:latin typeface="Libre Baskerville" pitchFamily="18" charset="0"/>
                <a:ea typeface="Libre Baskerville" pitchFamily="18" charset="-122"/>
                <a:cs typeface="Libre Baskerville" pitchFamily="18" charset="-120"/>
              </a:rPr>
              <a:t>Sources worth posting</a:t>
            </a:r>
            <a:endParaRPr lang="en-US" sz="3600" dirty="0"/>
          </a:p>
        </p:txBody>
      </p:sp>
      <p:sp>
        <p:nvSpPr>
          <p:cNvPr id="4" name="Shape 2"/>
          <p:cNvSpPr/>
          <p:nvPr/>
        </p:nvSpPr>
        <p:spPr>
          <a:xfrm>
            <a:off x="812800" y="1935428"/>
            <a:ext cx="10566400" cy="1946738"/>
          </a:xfrm>
          <a:prstGeom prst="rect">
            <a:avLst/>
          </a:prstGeom>
          <a:solidFill>
            <a:srgbClr val="FFFDF8"/>
          </a:solidFill>
          <a:ln/>
        </p:spPr>
      </p:sp>
      <p:sp>
        <p:nvSpPr>
          <p:cNvPr id="5" name="Shape 3"/>
          <p:cNvSpPr/>
          <p:nvPr/>
        </p:nvSpPr>
        <p:spPr>
          <a:xfrm>
            <a:off x="11376025" y="1935428"/>
            <a:ext cx="0" cy="1946738"/>
          </a:xfrm>
          <a:prstGeom prst="line">
            <a:avLst/>
          </a:prstGeom>
          <a:noFill/>
          <a:ln w="6350">
            <a:solidFill>
              <a:srgbClr val="D9CFBC"/>
            </a:solidFill>
            <a:prstDash val="solid"/>
          </a:ln>
        </p:spPr>
      </p:sp>
      <p:sp>
        <p:nvSpPr>
          <p:cNvPr id="6" name="Shape 4"/>
          <p:cNvSpPr/>
          <p:nvPr/>
        </p:nvSpPr>
        <p:spPr>
          <a:xfrm>
            <a:off x="812800" y="3878991"/>
            <a:ext cx="10566400" cy="0"/>
          </a:xfrm>
          <a:prstGeom prst="line">
            <a:avLst/>
          </a:prstGeom>
          <a:noFill/>
          <a:ln w="6350">
            <a:solidFill>
              <a:srgbClr val="D9CFBC"/>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948128"/>
          <a:ext cx="10549467" cy="1929805"/>
        </p:xfrm>
        <a:graphic>
          <a:graphicData uri="http://schemas.openxmlformats.org/drawingml/2006/table">
            <a:tbl>
              <a:tblPr/>
              <a:tblGrid>
                <a:gridCol w="1898904"/>
                <a:gridCol w="4325281"/>
                <a:gridCol w="4325281"/>
              </a:tblGrid>
              <a:tr h="385961">
                <a:tc>
                  <a:txBody>
                    <a:bodyPr/>
                    <a:lstStyle/>
                    <a:p>
                      <a:pPr indent="0" marL="0">
                        <a:lnSpc>
                          <a:spcPts val="1960"/>
                        </a:lnSpc>
                        <a:buNone/>
                      </a:pPr>
                      <a:r>
                        <a:rPr lang="en-US" sz="1400" b="1" dirty="0">
                          <a:solidFill>
                            <a:srgbClr val="F6F2EA"/>
                          </a:solidFill>
                          <a:latin typeface="DM Sans" pitchFamily="34" charset="0"/>
                          <a:ea typeface="DM Sans" pitchFamily="34" charset="-122"/>
                          <a:cs typeface="DM Sans" pitchFamily="34" charset="-120"/>
                        </a:rPr>
                        <a:t>Test</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14171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71C"/>
                      </a:solidFill>
                      <a:prstDash val="solid"/>
                      <a:round/>
                      <a:headEnd type="none" w="med" len="med"/>
                      <a:tailEnd type="none" w="med" len="med"/>
                    </a:lnB>
                    <a:solidFill>
                      <a:srgbClr val="14181F"/>
                    </a:solidFill>
                  </a:tcPr>
                </a:tc>
                <a:tc>
                  <a:txBody>
                    <a:bodyPr/>
                    <a:lstStyle/>
                    <a:p>
                      <a:pPr indent="0" marL="0">
                        <a:lnSpc>
                          <a:spcPts val="1960"/>
                        </a:lnSpc>
                        <a:buNone/>
                      </a:pPr>
                      <a:r>
                        <a:rPr lang="en-US" sz="1400" b="1" dirty="0">
                          <a:solidFill>
                            <a:srgbClr val="F6F2EA"/>
                          </a:solidFill>
                          <a:latin typeface="DM Sans" pitchFamily="34" charset="0"/>
                          <a:ea typeface="DM Sans" pitchFamily="34" charset="-122"/>
                          <a:cs typeface="DM Sans" pitchFamily="34" charset="-120"/>
                        </a:rPr>
                        <a:t>Ask yourself</a:t>
                      </a:r>
                      <a:endParaRPr lang="en-US" sz="1400" dirty="0">
                        <a:latin typeface="DM Sans" charset="0"/>
                        <a:ea typeface="DM Sans" charset="0"/>
                        <a:cs typeface="DM Sans" charset="0"/>
                      </a:endParaRPr>
                    </a:p>
                  </a:txBody>
                  <a:tcPr marL="62230" marR="62230" marT="62230" marB="62230" anchor="t">
                    <a:lnL w="12700" cap="flat" cmpd="sng" algn="ctr">
                      <a:solidFill>
                        <a:srgbClr val="14171C"/>
                      </a:solidFill>
                      <a:prstDash val="solid"/>
                      <a:round/>
                      <a:headEnd type="none" w="med" len="med"/>
                      <a:tailEnd type="none" w="med" len="med"/>
                    </a:lnL>
                    <a:lnR w="12700" cap="flat" cmpd="sng" algn="ctr">
                      <a:solidFill>
                        <a:srgbClr val="14171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71C"/>
                      </a:solidFill>
                      <a:prstDash val="solid"/>
                      <a:round/>
                      <a:headEnd type="none" w="med" len="med"/>
                      <a:tailEnd type="none" w="med" len="med"/>
                    </a:lnB>
                    <a:solidFill>
                      <a:srgbClr val="14181F"/>
                    </a:solidFill>
                  </a:tcPr>
                </a:tc>
                <a:tc>
                  <a:txBody>
                    <a:bodyPr/>
                    <a:lstStyle/>
                    <a:p>
                      <a:pPr indent="0" marL="0">
                        <a:lnSpc>
                          <a:spcPts val="1960"/>
                        </a:lnSpc>
                        <a:buNone/>
                      </a:pPr>
                      <a:r>
                        <a:rPr lang="en-US" sz="1400" b="1" dirty="0">
                          <a:solidFill>
                            <a:srgbClr val="F6F2EA"/>
                          </a:solidFill>
                          <a:latin typeface="DM Sans" pitchFamily="34" charset="0"/>
                          <a:ea typeface="DM Sans" pitchFamily="34" charset="-122"/>
                          <a:cs typeface="DM Sans" pitchFamily="34" charset="-120"/>
                        </a:rPr>
                        <a:t>Skip it when</a:t>
                      </a:r>
                      <a:endParaRPr lang="en-US" sz="1400" dirty="0">
                        <a:latin typeface="DM Sans" charset="0"/>
                        <a:ea typeface="DM Sans" charset="0"/>
                        <a:cs typeface="DM Sans" charset="0"/>
                      </a:endParaRPr>
                    </a:p>
                  </a:txBody>
                  <a:tcPr marL="62230" marR="62230" marT="62230" marB="62230" anchor="t">
                    <a:lnL w="12700" cap="flat" cmpd="sng" algn="ctr">
                      <a:solidFill>
                        <a:srgbClr val="14171C"/>
                      </a:solidFill>
                      <a:prstDash val="solid"/>
                      <a:round/>
                      <a:headEnd type="none" w="med" len="med"/>
                      <a:tailEnd type="none" w="med" len="med"/>
                    </a:lnL>
                    <a:lnR w="12700" cap="flat" cmpd="sng" algn="ctr">
                      <a:solidFill>
                        <a:srgbClr val="14171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71C"/>
                      </a:solidFill>
                      <a:prstDash val="solid"/>
                      <a:round/>
                      <a:headEnd type="none" w="med" len="med"/>
                      <a:tailEnd type="none" w="med" len="med"/>
                    </a:lnB>
                    <a:solidFill>
                      <a:srgbClr val="14181F"/>
                    </a:solidFill>
                  </a:tcPr>
                </a:tc>
              </a:tr>
              <a:tr h="385961">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Relevant</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71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Does it change something for my audience?</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71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It only interests insiders</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71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Credible</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Can I name who produced it and how?</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There is no author, method or original link</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Fresh</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Is it new, or newly relevant?</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It is widely covered and I have nothing to add</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Specific</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Is there a concrete finding or number?</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It offers only general opinion</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8" name="Text 5"/>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849"/>
                </a:solidFill>
                <a:latin typeface="DM Sans" pitchFamily="34" charset="0"/>
                <a:ea typeface="DM Sans" pitchFamily="34" charset="-122"/>
                <a:cs typeface="DM Sans" pitchFamily="34" charset="-120"/>
              </a:rPr>
              <a:t>From News to Feed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3A18"/>
                </a:solidFill>
                <a:latin typeface="DM Sans" pitchFamily="34" charset="0"/>
                <a:ea typeface="DM Sans" pitchFamily="34" charset="-122"/>
                <a:cs typeface="DM Sans" pitchFamily="34" charset="-120"/>
              </a:rPr>
              <a:t>STEP 2 · EXTRACT</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F"/>
                </a:solidFill>
                <a:latin typeface="Libre Baskerville" pitchFamily="18" charset="0"/>
                <a:ea typeface="Libre Baskerville" pitchFamily="18" charset="-122"/>
                <a:cs typeface="Libre Baskerville" pitchFamily="18" charset="-120"/>
              </a:rPr>
              <a:t>Five questions for every source</a:t>
            </a:r>
            <a:endParaRPr lang="en-US" sz="3600" dirty="0"/>
          </a:p>
        </p:txBody>
      </p:sp>
      <p:sp>
        <p:nvSpPr>
          <p:cNvPr id="4" name="Shape 2"/>
          <p:cNvSpPr/>
          <p:nvPr/>
        </p:nvSpPr>
        <p:spPr>
          <a:xfrm>
            <a:off x="812800" y="1938604"/>
            <a:ext cx="10566400" cy="0"/>
          </a:xfrm>
          <a:prstGeom prst="line">
            <a:avLst/>
          </a:prstGeom>
          <a:noFill/>
          <a:ln w="6350">
            <a:solidFill>
              <a:srgbClr val="C9BEA8"/>
            </a:solidFill>
            <a:prstDash val="solid"/>
          </a:ln>
        </p:spPr>
      </p:sp>
      <p:sp>
        <p:nvSpPr>
          <p:cNvPr id="5" name="Text 3"/>
          <p:cNvSpPr/>
          <p:nvPr/>
        </p:nvSpPr>
        <p:spPr>
          <a:xfrm>
            <a:off x="812800" y="2066661"/>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3A18"/>
                </a:solidFill>
                <a:latin typeface="DM Sans" pitchFamily="34" charset="0"/>
                <a:ea typeface="DM Sans" pitchFamily="34" charset="-122"/>
                <a:cs typeface="DM Sans" pitchFamily="34" charset="-120"/>
              </a:rPr>
              <a:t>1</a:t>
            </a:r>
            <a:endParaRPr lang="en-US" sz="2000" dirty="0"/>
          </a:p>
        </p:txBody>
      </p:sp>
      <p:sp>
        <p:nvSpPr>
          <p:cNvPr id="6" name="Text 4"/>
          <p:cNvSpPr/>
          <p:nvPr/>
        </p:nvSpPr>
        <p:spPr>
          <a:xfrm>
            <a:off x="1422400" y="2066661"/>
            <a:ext cx="418592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181F"/>
                </a:solidFill>
                <a:latin typeface="DM Sans" pitchFamily="34" charset="0"/>
                <a:ea typeface="DM Sans" pitchFamily="34" charset="-122"/>
                <a:cs typeface="DM Sans" pitchFamily="34" charset="-120"/>
              </a:rPr>
              <a:t>What is new?</a:t>
            </a:r>
            <a:endParaRPr lang="en-US" sz="2000" dirty="0"/>
          </a:p>
        </p:txBody>
      </p:sp>
      <p:sp>
        <p:nvSpPr>
          <p:cNvPr id="7" name="Text 5"/>
          <p:cNvSpPr/>
          <p:nvPr/>
        </p:nvSpPr>
        <p:spPr>
          <a:xfrm>
            <a:off x="5689600" y="2119976"/>
            <a:ext cx="5860288"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The single finding or development</a:t>
            </a:r>
            <a:endParaRPr lang="en-US" sz="1400" dirty="0"/>
          </a:p>
        </p:txBody>
      </p:sp>
      <p:sp>
        <p:nvSpPr>
          <p:cNvPr id="8" name="Shape 6"/>
          <p:cNvSpPr/>
          <p:nvPr/>
        </p:nvSpPr>
        <p:spPr>
          <a:xfrm>
            <a:off x="812800" y="2552436"/>
            <a:ext cx="10566400" cy="0"/>
          </a:xfrm>
          <a:prstGeom prst="line">
            <a:avLst/>
          </a:prstGeom>
          <a:noFill/>
          <a:ln w="6350">
            <a:solidFill>
              <a:srgbClr val="C9BEA8"/>
            </a:solidFill>
            <a:prstDash val="solid"/>
          </a:ln>
        </p:spPr>
      </p:sp>
      <p:sp>
        <p:nvSpPr>
          <p:cNvPr id="9" name="Text 7"/>
          <p:cNvSpPr/>
          <p:nvPr/>
        </p:nvSpPr>
        <p:spPr>
          <a:xfrm>
            <a:off x="812800" y="2680494"/>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3A18"/>
                </a:solidFill>
                <a:latin typeface="DM Sans" pitchFamily="34" charset="0"/>
                <a:ea typeface="DM Sans" pitchFamily="34" charset="-122"/>
                <a:cs typeface="DM Sans" pitchFamily="34" charset="-120"/>
              </a:rPr>
              <a:t>2</a:t>
            </a:r>
            <a:endParaRPr lang="en-US" sz="2000" dirty="0"/>
          </a:p>
        </p:txBody>
      </p:sp>
      <p:sp>
        <p:nvSpPr>
          <p:cNvPr id="10" name="Text 8"/>
          <p:cNvSpPr/>
          <p:nvPr/>
        </p:nvSpPr>
        <p:spPr>
          <a:xfrm>
            <a:off x="1422400" y="2680494"/>
            <a:ext cx="418592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181F"/>
                </a:solidFill>
                <a:latin typeface="DM Sans" pitchFamily="34" charset="0"/>
                <a:ea typeface="DM Sans" pitchFamily="34" charset="-122"/>
                <a:cs typeface="DM Sans" pitchFamily="34" charset="-120"/>
              </a:rPr>
              <a:t>Who does it affect?</a:t>
            </a:r>
            <a:endParaRPr lang="en-US" sz="2000" dirty="0"/>
          </a:p>
        </p:txBody>
      </p:sp>
      <p:sp>
        <p:nvSpPr>
          <p:cNvPr id="11" name="Text 9"/>
          <p:cNvSpPr/>
          <p:nvPr/>
        </p:nvSpPr>
        <p:spPr>
          <a:xfrm>
            <a:off x="5689600" y="2733808"/>
            <a:ext cx="5860288"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The people who should care</a:t>
            </a:r>
            <a:endParaRPr lang="en-US" sz="1400" dirty="0"/>
          </a:p>
        </p:txBody>
      </p:sp>
      <p:sp>
        <p:nvSpPr>
          <p:cNvPr id="12" name="Shape 10"/>
          <p:cNvSpPr/>
          <p:nvPr/>
        </p:nvSpPr>
        <p:spPr>
          <a:xfrm>
            <a:off x="812800" y="3166269"/>
            <a:ext cx="10566400" cy="0"/>
          </a:xfrm>
          <a:prstGeom prst="line">
            <a:avLst/>
          </a:prstGeom>
          <a:noFill/>
          <a:ln w="6350">
            <a:solidFill>
              <a:srgbClr val="C9BEA8"/>
            </a:solidFill>
            <a:prstDash val="solid"/>
          </a:ln>
        </p:spPr>
      </p:sp>
      <p:sp>
        <p:nvSpPr>
          <p:cNvPr id="13" name="Text 11"/>
          <p:cNvSpPr/>
          <p:nvPr/>
        </p:nvSpPr>
        <p:spPr>
          <a:xfrm>
            <a:off x="812800" y="3294329"/>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3A18"/>
                </a:solidFill>
                <a:latin typeface="DM Sans" pitchFamily="34" charset="0"/>
                <a:ea typeface="DM Sans" pitchFamily="34" charset="-122"/>
                <a:cs typeface="DM Sans" pitchFamily="34" charset="-120"/>
              </a:rPr>
              <a:t>3</a:t>
            </a:r>
            <a:endParaRPr lang="en-US" sz="2000" dirty="0"/>
          </a:p>
        </p:txBody>
      </p:sp>
      <p:sp>
        <p:nvSpPr>
          <p:cNvPr id="14" name="Text 12"/>
          <p:cNvSpPr/>
          <p:nvPr/>
        </p:nvSpPr>
        <p:spPr>
          <a:xfrm>
            <a:off x="1422400" y="3294329"/>
            <a:ext cx="418592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181F"/>
                </a:solidFill>
                <a:latin typeface="DM Sans" pitchFamily="34" charset="0"/>
                <a:ea typeface="DM Sans" pitchFamily="34" charset="-122"/>
                <a:cs typeface="DM Sans" pitchFamily="34" charset="-120"/>
              </a:rPr>
              <a:t>What is the number?</a:t>
            </a:r>
            <a:endParaRPr lang="en-US" sz="2000" dirty="0"/>
          </a:p>
        </p:txBody>
      </p:sp>
      <p:sp>
        <p:nvSpPr>
          <p:cNvPr id="15" name="Text 13"/>
          <p:cNvSpPr/>
          <p:nvPr/>
        </p:nvSpPr>
        <p:spPr>
          <a:xfrm>
            <a:off x="5689600" y="3347641"/>
            <a:ext cx="5860288"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One figure, with its unit and timeframe</a:t>
            </a:r>
            <a:endParaRPr lang="en-US" sz="1400" dirty="0"/>
          </a:p>
        </p:txBody>
      </p:sp>
      <p:sp>
        <p:nvSpPr>
          <p:cNvPr id="16" name="Shape 14"/>
          <p:cNvSpPr/>
          <p:nvPr/>
        </p:nvSpPr>
        <p:spPr>
          <a:xfrm>
            <a:off x="812800" y="3780104"/>
            <a:ext cx="10566400" cy="0"/>
          </a:xfrm>
          <a:prstGeom prst="line">
            <a:avLst/>
          </a:prstGeom>
          <a:noFill/>
          <a:ln w="6350">
            <a:solidFill>
              <a:srgbClr val="C9BEA8"/>
            </a:solidFill>
            <a:prstDash val="solid"/>
          </a:ln>
        </p:spPr>
      </p:sp>
      <p:sp>
        <p:nvSpPr>
          <p:cNvPr id="17" name="Text 15"/>
          <p:cNvSpPr/>
          <p:nvPr/>
        </p:nvSpPr>
        <p:spPr>
          <a:xfrm>
            <a:off x="812800" y="3908161"/>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3A18"/>
                </a:solidFill>
                <a:latin typeface="DM Sans" pitchFamily="34" charset="0"/>
                <a:ea typeface="DM Sans" pitchFamily="34" charset="-122"/>
                <a:cs typeface="DM Sans" pitchFamily="34" charset="-120"/>
              </a:rPr>
              <a:t>4</a:t>
            </a:r>
            <a:endParaRPr lang="en-US" sz="2000" dirty="0"/>
          </a:p>
        </p:txBody>
      </p:sp>
      <p:sp>
        <p:nvSpPr>
          <p:cNvPr id="18" name="Text 16"/>
          <p:cNvSpPr/>
          <p:nvPr/>
        </p:nvSpPr>
        <p:spPr>
          <a:xfrm>
            <a:off x="1422400" y="3908161"/>
            <a:ext cx="418592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181F"/>
                </a:solidFill>
                <a:latin typeface="DM Sans" pitchFamily="34" charset="0"/>
                <a:ea typeface="DM Sans" pitchFamily="34" charset="-122"/>
                <a:cs typeface="DM Sans" pitchFamily="34" charset="-120"/>
              </a:rPr>
              <a:t>Why does it matter?</a:t>
            </a:r>
            <a:endParaRPr lang="en-US" sz="2000" dirty="0"/>
          </a:p>
        </p:txBody>
      </p:sp>
      <p:sp>
        <p:nvSpPr>
          <p:cNvPr id="19" name="Text 17"/>
          <p:cNvSpPr/>
          <p:nvPr/>
        </p:nvSpPr>
        <p:spPr>
          <a:xfrm>
            <a:off x="5689600" y="3961476"/>
            <a:ext cx="5860288"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The consequence, in plain words</a:t>
            </a:r>
            <a:endParaRPr lang="en-US" sz="1400" dirty="0"/>
          </a:p>
        </p:txBody>
      </p:sp>
      <p:sp>
        <p:nvSpPr>
          <p:cNvPr id="20" name="Shape 18"/>
          <p:cNvSpPr/>
          <p:nvPr/>
        </p:nvSpPr>
        <p:spPr>
          <a:xfrm>
            <a:off x="812800" y="4393936"/>
            <a:ext cx="10566400" cy="0"/>
          </a:xfrm>
          <a:prstGeom prst="line">
            <a:avLst/>
          </a:prstGeom>
          <a:noFill/>
          <a:ln w="6350">
            <a:solidFill>
              <a:srgbClr val="C9BEA8"/>
            </a:solidFill>
            <a:prstDash val="solid"/>
          </a:ln>
        </p:spPr>
      </p:sp>
      <p:sp>
        <p:nvSpPr>
          <p:cNvPr id="21" name="Text 19"/>
          <p:cNvSpPr/>
          <p:nvPr/>
        </p:nvSpPr>
        <p:spPr>
          <a:xfrm>
            <a:off x="812800" y="4521994"/>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3A18"/>
                </a:solidFill>
                <a:latin typeface="DM Sans" pitchFamily="34" charset="0"/>
                <a:ea typeface="DM Sans" pitchFamily="34" charset="-122"/>
                <a:cs typeface="DM Sans" pitchFamily="34" charset="-120"/>
              </a:rPr>
              <a:t>5</a:t>
            </a:r>
            <a:endParaRPr lang="en-US" sz="2000" dirty="0"/>
          </a:p>
        </p:txBody>
      </p:sp>
      <p:sp>
        <p:nvSpPr>
          <p:cNvPr id="22" name="Text 20"/>
          <p:cNvSpPr/>
          <p:nvPr/>
        </p:nvSpPr>
        <p:spPr>
          <a:xfrm>
            <a:off x="1422400" y="4521994"/>
            <a:ext cx="418592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181F"/>
                </a:solidFill>
                <a:latin typeface="DM Sans" pitchFamily="34" charset="0"/>
                <a:ea typeface="DM Sans" pitchFamily="34" charset="-122"/>
                <a:cs typeface="DM Sans" pitchFamily="34" charset="-120"/>
              </a:rPr>
              <a:t>What happens next?</a:t>
            </a:r>
            <a:endParaRPr lang="en-US" sz="2000" dirty="0"/>
          </a:p>
        </p:txBody>
      </p:sp>
      <p:sp>
        <p:nvSpPr>
          <p:cNvPr id="23" name="Text 21"/>
          <p:cNvSpPr/>
          <p:nvPr/>
        </p:nvSpPr>
        <p:spPr>
          <a:xfrm>
            <a:off x="5689600" y="4575308"/>
            <a:ext cx="5860288"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The decision, date or open question</a:t>
            </a:r>
            <a:endParaRPr lang="en-US" sz="1400" dirty="0"/>
          </a:p>
        </p:txBody>
      </p:sp>
      <p:sp>
        <p:nvSpPr>
          <p:cNvPr id="24" name="Text 22"/>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849"/>
                </a:solidFill>
                <a:latin typeface="DM Sans" pitchFamily="34" charset="0"/>
                <a:ea typeface="DM Sans" pitchFamily="34" charset="-122"/>
                <a:cs typeface="DM Sans" pitchFamily="34" charset="-120"/>
              </a:rPr>
              <a:t>From News to Feed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3A18"/>
                </a:solidFill>
                <a:latin typeface="DM Sans" pitchFamily="34" charset="0"/>
                <a:ea typeface="DM Sans" pitchFamily="34" charset="-122"/>
                <a:cs typeface="DM Sans" pitchFamily="34" charset="-120"/>
              </a:rPr>
              <a:t>STEP 3 · ANGLE</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F"/>
                </a:solidFill>
                <a:latin typeface="Libre Baskerville" pitchFamily="18" charset="0"/>
                <a:ea typeface="Libre Baskerville" pitchFamily="18" charset="-122"/>
                <a:cs typeface="Libre Baskerville" pitchFamily="18" charset="-120"/>
              </a:rPr>
              <a:t>One finding, several angles</a:t>
            </a:r>
            <a:endParaRPr lang="en-US" sz="3600" dirty="0"/>
          </a:p>
        </p:txBody>
      </p:sp>
      <p:sp>
        <p:nvSpPr>
          <p:cNvPr id="4" name="Shape 2"/>
          <p:cNvSpPr/>
          <p:nvPr/>
        </p:nvSpPr>
        <p:spPr>
          <a:xfrm>
            <a:off x="815975" y="1938604"/>
            <a:ext cx="2482850" cy="2069637"/>
          </a:xfrm>
          <a:prstGeom prst="roundRect">
            <a:avLst>
              <a:gd name="adj" fmla="val 4756"/>
            </a:avLst>
          </a:prstGeom>
          <a:solidFill>
            <a:srgbClr val="FFFDF8"/>
          </a:solidFill>
          <a:ln w="6350">
            <a:solidFill>
              <a:srgbClr val="D9CFBC"/>
            </a:solidFill>
            <a:prstDash val="solid"/>
          </a:ln>
        </p:spPr>
      </p:sp>
      <p:pic>
        <p:nvPicPr>
          <p:cNvPr id="5" name="Image 0" descr="Chart">    </p:cNvPr>
          <p:cNvPicPr>
            <a:picLocks noChangeAspect="1"/>
          </p:cNvPicPr>
          <p:nvPr/>
        </p:nvPicPr>
        <p:blipFill>
          <a:blip r:embed="rId1"/>
          <a:srcRect l="0" r="0" t="0" b="0"/>
          <a:stretch/>
        </p:blipFill>
        <p:spPr>
          <a:xfrm>
            <a:off x="1045633" y="2168261"/>
            <a:ext cx="355600" cy="355600"/>
          </a:xfrm>
          <a:prstGeom prst="rect">
            <a:avLst/>
          </a:prstGeom>
        </p:spPr>
      </p:pic>
      <p:sp>
        <p:nvSpPr>
          <p:cNvPr id="6" name="Text 3"/>
          <p:cNvSpPr/>
          <p:nvPr/>
        </p:nvSpPr>
        <p:spPr>
          <a:xfrm>
            <a:off x="1045633" y="2625461"/>
            <a:ext cx="208423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The number</a:t>
            </a:r>
            <a:endParaRPr lang="en-US" sz="2000" dirty="0"/>
          </a:p>
        </p:txBody>
      </p:sp>
      <p:sp>
        <p:nvSpPr>
          <p:cNvPr id="7" name="Text 4"/>
          <p:cNvSpPr/>
          <p:nvPr/>
        </p:nvSpPr>
        <p:spPr>
          <a:xfrm>
            <a:off x="1045633" y="3031861"/>
            <a:ext cx="2084239"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Lead with the most striking figure</a:t>
            </a:r>
            <a:endParaRPr lang="en-US" sz="1400" dirty="0"/>
          </a:p>
        </p:txBody>
      </p:sp>
      <p:sp>
        <p:nvSpPr>
          <p:cNvPr id="8" name="Shape 5"/>
          <p:cNvSpPr/>
          <p:nvPr/>
        </p:nvSpPr>
        <p:spPr>
          <a:xfrm>
            <a:off x="3508375" y="1938604"/>
            <a:ext cx="2482850" cy="2069637"/>
          </a:xfrm>
          <a:prstGeom prst="roundRect">
            <a:avLst>
              <a:gd name="adj" fmla="val 4756"/>
            </a:avLst>
          </a:prstGeom>
          <a:solidFill>
            <a:srgbClr val="FFFDF8"/>
          </a:solidFill>
          <a:ln w="6350">
            <a:solidFill>
              <a:srgbClr val="D9CFBC"/>
            </a:solidFill>
            <a:prstDash val="solid"/>
          </a:ln>
        </p:spPr>
      </p:sp>
      <p:pic>
        <p:nvPicPr>
          <p:cNvPr id="9" name="Image 1" descr="Users">    </p:cNvPr>
          <p:cNvPicPr>
            <a:picLocks noChangeAspect="1"/>
          </p:cNvPicPr>
          <p:nvPr/>
        </p:nvPicPr>
        <p:blipFill>
          <a:blip r:embed="rId2"/>
          <a:srcRect l="0" r="0" t="0" b="0"/>
          <a:stretch/>
        </p:blipFill>
        <p:spPr>
          <a:xfrm>
            <a:off x="3738033" y="2168261"/>
            <a:ext cx="355600" cy="355600"/>
          </a:xfrm>
          <a:prstGeom prst="rect">
            <a:avLst/>
          </a:prstGeom>
        </p:spPr>
      </p:pic>
      <p:sp>
        <p:nvSpPr>
          <p:cNvPr id="10" name="Text 6"/>
          <p:cNvSpPr/>
          <p:nvPr/>
        </p:nvSpPr>
        <p:spPr>
          <a:xfrm>
            <a:off x="3738033" y="2625461"/>
            <a:ext cx="208423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The person</a:t>
            </a:r>
            <a:endParaRPr lang="en-US" sz="2000" dirty="0"/>
          </a:p>
        </p:txBody>
      </p:sp>
      <p:sp>
        <p:nvSpPr>
          <p:cNvPr id="11" name="Text 7"/>
          <p:cNvSpPr/>
          <p:nvPr/>
        </p:nvSpPr>
        <p:spPr>
          <a:xfrm>
            <a:off x="3738033" y="3031861"/>
            <a:ext cx="2084239"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Show what it means for one individual</a:t>
            </a:r>
            <a:endParaRPr lang="en-US" sz="1400" dirty="0"/>
          </a:p>
        </p:txBody>
      </p:sp>
      <p:sp>
        <p:nvSpPr>
          <p:cNvPr id="12" name="Shape 8"/>
          <p:cNvSpPr/>
          <p:nvPr/>
        </p:nvSpPr>
        <p:spPr>
          <a:xfrm>
            <a:off x="6200775" y="1938604"/>
            <a:ext cx="2482850" cy="2069637"/>
          </a:xfrm>
          <a:prstGeom prst="roundRect">
            <a:avLst>
              <a:gd name="adj" fmla="val 4756"/>
            </a:avLst>
          </a:prstGeom>
          <a:solidFill>
            <a:srgbClr val="FFFDF8"/>
          </a:solidFill>
          <a:ln w="6350">
            <a:solidFill>
              <a:srgbClr val="D9CFBC"/>
            </a:solidFill>
            <a:prstDash val="solid"/>
          </a:ln>
        </p:spPr>
      </p:sp>
      <p:pic>
        <p:nvPicPr>
          <p:cNvPr id="13" name="Image 2" descr="Tool">    </p:cNvPr>
          <p:cNvPicPr>
            <a:picLocks noChangeAspect="1"/>
          </p:cNvPicPr>
          <p:nvPr/>
        </p:nvPicPr>
        <p:blipFill>
          <a:blip r:embed="rId3"/>
          <a:srcRect l="0" r="0" t="0" b="0"/>
          <a:stretch/>
        </p:blipFill>
        <p:spPr>
          <a:xfrm>
            <a:off x="6430433" y="2168261"/>
            <a:ext cx="355600" cy="355600"/>
          </a:xfrm>
          <a:prstGeom prst="rect">
            <a:avLst/>
          </a:prstGeom>
        </p:spPr>
      </p:pic>
      <p:sp>
        <p:nvSpPr>
          <p:cNvPr id="14" name="Text 9"/>
          <p:cNvSpPr/>
          <p:nvPr/>
        </p:nvSpPr>
        <p:spPr>
          <a:xfrm>
            <a:off x="6430433" y="2625461"/>
            <a:ext cx="208423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The how-to</a:t>
            </a:r>
            <a:endParaRPr lang="en-US" sz="2000" dirty="0"/>
          </a:p>
        </p:txBody>
      </p:sp>
      <p:sp>
        <p:nvSpPr>
          <p:cNvPr id="15" name="Text 10"/>
          <p:cNvSpPr/>
          <p:nvPr/>
        </p:nvSpPr>
        <p:spPr>
          <a:xfrm>
            <a:off x="6430433" y="3031861"/>
            <a:ext cx="2084239"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Turn the finding into steps people can use</a:t>
            </a:r>
            <a:endParaRPr lang="en-US" sz="1400" dirty="0"/>
          </a:p>
        </p:txBody>
      </p:sp>
      <p:sp>
        <p:nvSpPr>
          <p:cNvPr id="16" name="Shape 11"/>
          <p:cNvSpPr/>
          <p:nvPr/>
        </p:nvSpPr>
        <p:spPr>
          <a:xfrm>
            <a:off x="8893175" y="1938604"/>
            <a:ext cx="2482850" cy="2069637"/>
          </a:xfrm>
          <a:prstGeom prst="roundRect">
            <a:avLst>
              <a:gd name="adj" fmla="val 4756"/>
            </a:avLst>
          </a:prstGeom>
          <a:solidFill>
            <a:srgbClr val="FFFDF8"/>
          </a:solidFill>
          <a:ln w="6350">
            <a:solidFill>
              <a:srgbClr val="D9CFBC"/>
            </a:solidFill>
            <a:prstDash val="solid"/>
          </a:ln>
        </p:spPr>
      </p:sp>
      <p:pic>
        <p:nvPicPr>
          <p:cNvPr id="17" name="Image 3" descr="Lightbulb">    </p:cNvPr>
          <p:cNvPicPr>
            <a:picLocks noChangeAspect="1"/>
          </p:cNvPicPr>
          <p:nvPr/>
        </p:nvPicPr>
        <p:blipFill>
          <a:blip r:embed="rId4"/>
          <a:srcRect l="0" r="0" t="0" b="0"/>
          <a:stretch/>
        </p:blipFill>
        <p:spPr>
          <a:xfrm>
            <a:off x="9122834" y="2168261"/>
            <a:ext cx="355600" cy="355600"/>
          </a:xfrm>
          <a:prstGeom prst="rect">
            <a:avLst/>
          </a:prstGeom>
        </p:spPr>
      </p:pic>
      <p:sp>
        <p:nvSpPr>
          <p:cNvPr id="18" name="Text 12"/>
          <p:cNvSpPr/>
          <p:nvPr/>
        </p:nvSpPr>
        <p:spPr>
          <a:xfrm>
            <a:off x="9122834" y="2625461"/>
            <a:ext cx="208423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The myth</a:t>
            </a:r>
            <a:endParaRPr lang="en-US" sz="2000" dirty="0"/>
          </a:p>
        </p:txBody>
      </p:sp>
      <p:sp>
        <p:nvSpPr>
          <p:cNvPr id="19" name="Text 13"/>
          <p:cNvSpPr/>
          <p:nvPr/>
        </p:nvSpPr>
        <p:spPr>
          <a:xfrm>
            <a:off x="9122834" y="3031861"/>
            <a:ext cx="2084239"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Correct a common belief the evidence contradicts</a:t>
            </a:r>
            <a:endParaRPr lang="en-US" sz="1400" dirty="0"/>
          </a:p>
        </p:txBody>
      </p:sp>
      <p:sp>
        <p:nvSpPr>
          <p:cNvPr id="20" name="Text 14"/>
          <p:cNvSpPr/>
          <p:nvPr/>
        </p:nvSpPr>
        <p:spPr>
          <a:xfrm>
            <a:off x="812800" y="4316214"/>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81F"/>
                </a:solidFill>
                <a:latin typeface="DM Sans" pitchFamily="34" charset="0"/>
                <a:ea typeface="DM Sans" pitchFamily="34" charset="-122"/>
                <a:cs typeface="DM Sans" pitchFamily="34" charset="-120"/>
              </a:rPr>
              <a:t>Choose one angle per piece and save the others for later posts.</a:t>
            </a:r>
            <a:endParaRPr lang="en-US" sz="1400" dirty="0"/>
          </a:p>
        </p:txBody>
      </p:sp>
      <p:sp>
        <p:nvSpPr>
          <p:cNvPr id="21" name="Text 15"/>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849"/>
                </a:solidFill>
                <a:latin typeface="DM Sans" pitchFamily="34" charset="0"/>
                <a:ea typeface="DM Sans" pitchFamily="34" charset="-122"/>
                <a:cs typeface="DM Sans" pitchFamily="34" charset="-120"/>
              </a:rPr>
              <a:t>From News to Feed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3A18"/>
                </a:solidFill>
                <a:latin typeface="DM Sans" pitchFamily="34" charset="0"/>
                <a:ea typeface="DM Sans" pitchFamily="34" charset="-122"/>
                <a:cs typeface="DM Sans" pitchFamily="34" charset="-120"/>
              </a:rPr>
              <a:t>STEP 4 · FORMAT</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F"/>
                </a:solidFill>
                <a:latin typeface="Libre Baskerville" pitchFamily="18" charset="0"/>
                <a:ea typeface="Libre Baskerville" pitchFamily="18" charset="-122"/>
                <a:cs typeface="Libre Baskerville" pitchFamily="18" charset="-120"/>
              </a:rPr>
              <a:t>The right format for the story</a:t>
            </a:r>
            <a:endParaRPr lang="en-US" sz="3600" dirty="0"/>
          </a:p>
        </p:txBody>
      </p:sp>
      <p:sp>
        <p:nvSpPr>
          <p:cNvPr id="4" name="Shape 2"/>
          <p:cNvSpPr/>
          <p:nvPr/>
        </p:nvSpPr>
        <p:spPr>
          <a:xfrm>
            <a:off x="812800" y="1935429"/>
            <a:ext cx="10566400" cy="1946738"/>
          </a:xfrm>
          <a:prstGeom prst="rect">
            <a:avLst/>
          </a:prstGeom>
          <a:solidFill>
            <a:srgbClr val="FFFDF8"/>
          </a:solidFill>
          <a:ln/>
        </p:spPr>
      </p:sp>
      <p:sp>
        <p:nvSpPr>
          <p:cNvPr id="5" name="Shape 3"/>
          <p:cNvSpPr/>
          <p:nvPr/>
        </p:nvSpPr>
        <p:spPr>
          <a:xfrm>
            <a:off x="11376025" y="1935429"/>
            <a:ext cx="0" cy="1946738"/>
          </a:xfrm>
          <a:prstGeom prst="line">
            <a:avLst/>
          </a:prstGeom>
          <a:noFill/>
          <a:ln w="6350">
            <a:solidFill>
              <a:srgbClr val="D9CFBC"/>
            </a:solidFill>
            <a:prstDash val="solid"/>
          </a:ln>
        </p:spPr>
      </p:sp>
      <p:sp>
        <p:nvSpPr>
          <p:cNvPr id="6" name="Shape 4"/>
          <p:cNvSpPr/>
          <p:nvPr/>
        </p:nvSpPr>
        <p:spPr>
          <a:xfrm>
            <a:off x="812800" y="3878992"/>
            <a:ext cx="10566400" cy="0"/>
          </a:xfrm>
          <a:prstGeom prst="line">
            <a:avLst/>
          </a:prstGeom>
          <a:noFill/>
          <a:ln w="6350">
            <a:solidFill>
              <a:srgbClr val="D9CFBC"/>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948129"/>
          <a:ext cx="10549467" cy="1929805"/>
        </p:xfrm>
        <a:graphic>
          <a:graphicData uri="http://schemas.openxmlformats.org/drawingml/2006/table">
            <a:tbl>
              <a:tblPr/>
              <a:tblGrid>
                <a:gridCol w="2109893"/>
                <a:gridCol w="4430776"/>
                <a:gridCol w="4008797"/>
              </a:tblGrid>
              <a:tr h="385961">
                <a:tc>
                  <a:txBody>
                    <a:bodyPr/>
                    <a:lstStyle/>
                    <a:p>
                      <a:pPr indent="0" marL="0">
                        <a:lnSpc>
                          <a:spcPts val="1960"/>
                        </a:lnSpc>
                        <a:buNone/>
                      </a:pPr>
                      <a:r>
                        <a:rPr lang="en-US" sz="1400" b="1" dirty="0">
                          <a:solidFill>
                            <a:srgbClr val="F6F2EA"/>
                          </a:solidFill>
                          <a:latin typeface="DM Sans" pitchFamily="34" charset="0"/>
                          <a:ea typeface="DM Sans" pitchFamily="34" charset="-122"/>
                          <a:cs typeface="DM Sans" pitchFamily="34" charset="-120"/>
                        </a:rPr>
                        <a:t>Format</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14171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71C"/>
                      </a:solidFill>
                      <a:prstDash val="solid"/>
                      <a:round/>
                      <a:headEnd type="none" w="med" len="med"/>
                      <a:tailEnd type="none" w="med" len="med"/>
                    </a:lnB>
                    <a:solidFill>
                      <a:srgbClr val="14181F"/>
                    </a:solidFill>
                  </a:tcPr>
                </a:tc>
                <a:tc>
                  <a:txBody>
                    <a:bodyPr/>
                    <a:lstStyle/>
                    <a:p>
                      <a:pPr indent="0" marL="0">
                        <a:lnSpc>
                          <a:spcPts val="1960"/>
                        </a:lnSpc>
                        <a:buNone/>
                      </a:pPr>
                      <a:r>
                        <a:rPr lang="en-US" sz="1400" b="1" dirty="0">
                          <a:solidFill>
                            <a:srgbClr val="F6F2EA"/>
                          </a:solidFill>
                          <a:latin typeface="DM Sans" pitchFamily="34" charset="0"/>
                          <a:ea typeface="DM Sans" pitchFamily="34" charset="-122"/>
                          <a:cs typeface="DM Sans" pitchFamily="34" charset="-120"/>
                        </a:rPr>
                        <a:t>Best for</a:t>
                      </a:r>
                      <a:endParaRPr lang="en-US" sz="1400" dirty="0">
                        <a:latin typeface="DM Sans" charset="0"/>
                        <a:ea typeface="DM Sans" charset="0"/>
                        <a:cs typeface="DM Sans" charset="0"/>
                      </a:endParaRPr>
                    </a:p>
                  </a:txBody>
                  <a:tcPr marL="62230" marR="62230" marT="62230" marB="62230" anchor="t">
                    <a:lnL w="12700" cap="flat" cmpd="sng" algn="ctr">
                      <a:solidFill>
                        <a:srgbClr val="14171C"/>
                      </a:solidFill>
                      <a:prstDash val="solid"/>
                      <a:round/>
                      <a:headEnd type="none" w="med" len="med"/>
                      <a:tailEnd type="none" w="med" len="med"/>
                    </a:lnL>
                    <a:lnR w="12700" cap="flat" cmpd="sng" algn="ctr">
                      <a:solidFill>
                        <a:srgbClr val="14171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71C"/>
                      </a:solidFill>
                      <a:prstDash val="solid"/>
                      <a:round/>
                      <a:headEnd type="none" w="med" len="med"/>
                      <a:tailEnd type="none" w="med" len="med"/>
                    </a:lnB>
                    <a:solidFill>
                      <a:srgbClr val="14181F"/>
                    </a:solidFill>
                  </a:tcPr>
                </a:tc>
                <a:tc>
                  <a:txBody>
                    <a:bodyPr/>
                    <a:lstStyle/>
                    <a:p>
                      <a:pPr indent="0" marL="0">
                        <a:lnSpc>
                          <a:spcPts val="1960"/>
                        </a:lnSpc>
                        <a:buNone/>
                      </a:pPr>
                      <a:r>
                        <a:rPr lang="en-US" sz="1400" b="1" dirty="0">
                          <a:solidFill>
                            <a:srgbClr val="F6F2EA"/>
                          </a:solidFill>
                          <a:latin typeface="DM Sans" pitchFamily="34" charset="0"/>
                          <a:ea typeface="DM Sans" pitchFamily="34" charset="-122"/>
                          <a:cs typeface="DM Sans" pitchFamily="34" charset="-120"/>
                        </a:rPr>
                        <a:t>Typical shape</a:t>
                      </a:r>
                      <a:endParaRPr lang="en-US" sz="1400" dirty="0">
                        <a:latin typeface="DM Sans" charset="0"/>
                        <a:ea typeface="DM Sans" charset="0"/>
                        <a:cs typeface="DM Sans" charset="0"/>
                      </a:endParaRPr>
                    </a:p>
                  </a:txBody>
                  <a:tcPr marL="62230" marR="62230" marT="62230" marB="62230" anchor="t">
                    <a:lnL w="12700" cap="flat" cmpd="sng" algn="ctr">
                      <a:solidFill>
                        <a:srgbClr val="14171C"/>
                      </a:solidFill>
                      <a:prstDash val="solid"/>
                      <a:round/>
                      <a:headEnd type="none" w="med" len="med"/>
                      <a:tailEnd type="none" w="med" len="med"/>
                    </a:lnL>
                    <a:lnR w="12700" cap="flat" cmpd="sng" algn="ctr">
                      <a:solidFill>
                        <a:srgbClr val="14171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71C"/>
                      </a:solidFill>
                      <a:prstDash val="solid"/>
                      <a:round/>
                      <a:headEnd type="none" w="med" len="med"/>
                      <a:tailEnd type="none" w="med" len="med"/>
                    </a:lnB>
                    <a:solidFill>
                      <a:srgbClr val="14181F"/>
                    </a:solidFill>
                  </a:tcPr>
                </a:tc>
              </a:tr>
              <a:tr h="385961">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Single post</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71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One sharp finding or reaction</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71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Hook, context, takeaway, source</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71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Thread</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An argument or story told in steps</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5 to 10 linked posts</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Carousel</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Lists, frameworks and comparisons</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6 to 10 swipeable slides</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Reel script</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Demonstration, emotion and reach</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30 to 45 seconds to camera</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8" name="Text 5"/>
          <p:cNvSpPr/>
          <p:nvPr/>
        </p:nvSpPr>
        <p:spPr>
          <a:xfrm>
            <a:off x="812800" y="4186966"/>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Lengths are starting points. Adjust them to each platform and to what your audience finishes.</a:t>
            </a:r>
            <a:endParaRPr lang="en-US" sz="1400" dirty="0"/>
          </a:p>
        </p:txBody>
      </p:sp>
      <p:sp>
        <p:nvSpPr>
          <p:cNvPr id="9" name="Text 6"/>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849"/>
                </a:solidFill>
                <a:latin typeface="DM Sans" pitchFamily="34" charset="0"/>
                <a:ea typeface="DM Sans" pitchFamily="34" charset="-122"/>
                <a:cs typeface="DM Sans" pitchFamily="34" charset="-120"/>
              </a:rPr>
              <a:t>From News to Feed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A93A18"/>
        </a:solidFill>
      </p:bgPr>
    </p:bg>
    <p:spTree>
      <p:nvGrpSpPr>
        <p:cNvPr id="1" name=""/>
        <p:cNvGrpSpPr/>
        <p:nvPr/>
      </p:nvGrpSpPr>
      <p:grpSpPr>
        <a:xfrm>
          <a:off x="0" y="0"/>
          <a:ext cx="0" cy="0"/>
          <a:chOff x="0" y="0"/>
          <a:chExt cx="0" cy="0"/>
        </a:xfrm>
      </p:grpSpPr>
      <p:sp>
        <p:nvSpPr>
          <p:cNvPr id="2" name="Text 0"/>
          <p:cNvSpPr/>
          <p:nvPr>
            <p:ph type="title"/>
          </p:nvPr>
        </p:nvSpPr>
        <p:spPr>
          <a:xfrm>
            <a:off x="812800" y="2108200"/>
            <a:ext cx="10883392" cy="17018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FF8EE"/>
                </a:solidFill>
                <a:latin typeface="Libre Baskerville" pitchFamily="18" charset="0"/>
                <a:ea typeface="Libre Baskerville" pitchFamily="18" charset="-122"/>
                <a:cs typeface="Libre Baskerville" pitchFamily="18" charset="-120"/>
              </a:rPr>
              <a:t>One story can become four pieces of content.</a:t>
            </a:r>
            <a:endParaRPr lang="en-US" sz="6000" dirty="0"/>
          </a:p>
        </p:txBody>
      </p:sp>
      <p:sp>
        <p:nvSpPr>
          <p:cNvPr id="3" name="Text 1"/>
          <p:cNvSpPr/>
          <p:nvPr/>
        </p:nvSpPr>
        <p:spPr>
          <a:xfrm>
            <a:off x="812800" y="4089400"/>
            <a:ext cx="850265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FF8EE"/>
                </a:solidFill>
                <a:latin typeface="DM Sans" pitchFamily="34" charset="0"/>
                <a:ea typeface="DM Sans" pitchFamily="34" charset="-122"/>
                <a:cs typeface="DM Sans" pitchFamily="34" charset="-120"/>
              </a:rPr>
              <a:t>The research is done once. The post, thread, carousel and reel each reach a different reader.</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E5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3A18"/>
                </a:solidFill>
                <a:latin typeface="DM Sans" pitchFamily="34" charset="0"/>
                <a:ea typeface="DM Sans" pitchFamily="34" charset="-122"/>
                <a:cs typeface="DM Sans" pitchFamily="34" charset="-120"/>
              </a:rPr>
              <a:t>FORMAT 1 · SINGLE POST</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F"/>
                </a:solidFill>
                <a:latin typeface="Libre Baskerville" pitchFamily="18" charset="0"/>
                <a:ea typeface="Libre Baskerville" pitchFamily="18" charset="-122"/>
                <a:cs typeface="Libre Baskerville" pitchFamily="18" charset="-120"/>
              </a:rPr>
              <a:t>Anatomy of a single post</a:t>
            </a:r>
            <a:endParaRPr lang="en-US" sz="3600" dirty="0"/>
          </a:p>
        </p:txBody>
      </p:sp>
      <p:sp>
        <p:nvSpPr>
          <p:cNvPr id="4" name="Shape 2"/>
          <p:cNvSpPr/>
          <p:nvPr/>
        </p:nvSpPr>
        <p:spPr>
          <a:xfrm>
            <a:off x="812800" y="1938604"/>
            <a:ext cx="10566400" cy="0"/>
          </a:xfrm>
          <a:prstGeom prst="line">
            <a:avLst/>
          </a:prstGeom>
          <a:noFill/>
          <a:ln w="6350">
            <a:solidFill>
              <a:srgbClr val="BDB19A"/>
            </a:solidFill>
            <a:prstDash val="solid"/>
          </a:ln>
        </p:spPr>
      </p:sp>
      <p:sp>
        <p:nvSpPr>
          <p:cNvPr id="5" name="Text 3"/>
          <p:cNvSpPr/>
          <p:nvPr/>
        </p:nvSpPr>
        <p:spPr>
          <a:xfrm>
            <a:off x="812800" y="2066665"/>
            <a:ext cx="1701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3A18"/>
                </a:solidFill>
                <a:latin typeface="DM Sans" pitchFamily="34" charset="0"/>
                <a:ea typeface="DM Sans" pitchFamily="34" charset="-122"/>
                <a:cs typeface="DM Sans" pitchFamily="34" charset="-120"/>
              </a:rPr>
              <a:t>Hook</a:t>
            </a:r>
            <a:endParaRPr lang="en-US" sz="2000" dirty="0"/>
          </a:p>
        </p:txBody>
      </p:sp>
      <p:sp>
        <p:nvSpPr>
          <p:cNvPr id="6" name="Text 4"/>
          <p:cNvSpPr/>
          <p:nvPr/>
        </p:nvSpPr>
        <p:spPr>
          <a:xfrm>
            <a:off x="2667000" y="2119976"/>
            <a:ext cx="366268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81F"/>
                </a:solidFill>
                <a:latin typeface="DM Sans" pitchFamily="34" charset="0"/>
                <a:ea typeface="DM Sans" pitchFamily="34" charset="-122"/>
                <a:cs typeface="DM Sans" pitchFamily="34" charset="-120"/>
              </a:rPr>
              <a:t>The first line earns the stop</a:t>
            </a:r>
            <a:endParaRPr lang="en-US" sz="1400" dirty="0"/>
          </a:p>
        </p:txBody>
      </p:sp>
      <p:sp>
        <p:nvSpPr>
          <p:cNvPr id="7" name="Text 5"/>
          <p:cNvSpPr/>
          <p:nvPr/>
        </p:nvSpPr>
        <p:spPr>
          <a:xfrm>
            <a:off x="6426200" y="2119976"/>
            <a:ext cx="5101590" cy="274307"/>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3B4150"/>
                </a:solidFill>
                <a:latin typeface="DM Sans" pitchFamily="34" charset="0"/>
                <a:ea typeface="DM Sans" pitchFamily="34" charset="-122"/>
                <a:cs typeface="DM Sans" pitchFamily="34" charset="-120"/>
              </a:rPr>
              <a:t>"New research changes how we think about [topic]."</a:t>
            </a:r>
            <a:endParaRPr lang="en-US" sz="1400" dirty="0"/>
          </a:p>
        </p:txBody>
      </p:sp>
      <p:sp>
        <p:nvSpPr>
          <p:cNvPr id="8" name="Shape 6"/>
          <p:cNvSpPr/>
          <p:nvPr/>
        </p:nvSpPr>
        <p:spPr>
          <a:xfrm>
            <a:off x="812800" y="2552440"/>
            <a:ext cx="10566400" cy="0"/>
          </a:xfrm>
          <a:prstGeom prst="line">
            <a:avLst/>
          </a:prstGeom>
          <a:noFill/>
          <a:ln w="6350">
            <a:solidFill>
              <a:srgbClr val="BDB19A"/>
            </a:solidFill>
            <a:prstDash val="solid"/>
          </a:ln>
        </p:spPr>
      </p:sp>
      <p:sp>
        <p:nvSpPr>
          <p:cNvPr id="9" name="Text 7"/>
          <p:cNvSpPr/>
          <p:nvPr/>
        </p:nvSpPr>
        <p:spPr>
          <a:xfrm>
            <a:off x="812800" y="2680494"/>
            <a:ext cx="1701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3A18"/>
                </a:solidFill>
                <a:latin typeface="DM Sans" pitchFamily="34" charset="0"/>
                <a:ea typeface="DM Sans" pitchFamily="34" charset="-122"/>
                <a:cs typeface="DM Sans" pitchFamily="34" charset="-120"/>
              </a:rPr>
              <a:t>Context</a:t>
            </a:r>
            <a:endParaRPr lang="en-US" sz="2000" dirty="0"/>
          </a:p>
        </p:txBody>
      </p:sp>
      <p:sp>
        <p:nvSpPr>
          <p:cNvPr id="10" name="Text 8"/>
          <p:cNvSpPr/>
          <p:nvPr/>
        </p:nvSpPr>
        <p:spPr>
          <a:xfrm>
            <a:off x="2667000" y="2733811"/>
            <a:ext cx="366268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81F"/>
                </a:solidFill>
                <a:latin typeface="DM Sans" pitchFamily="34" charset="0"/>
                <a:ea typeface="DM Sans" pitchFamily="34" charset="-122"/>
                <a:cs typeface="DM Sans" pitchFamily="34" charset="-120"/>
              </a:rPr>
              <a:t>Who found it, and how</a:t>
            </a:r>
            <a:endParaRPr lang="en-US" sz="1400" dirty="0"/>
          </a:p>
        </p:txBody>
      </p:sp>
      <p:sp>
        <p:nvSpPr>
          <p:cNvPr id="11" name="Text 9"/>
          <p:cNvSpPr/>
          <p:nvPr/>
        </p:nvSpPr>
        <p:spPr>
          <a:xfrm>
            <a:off x="6426200" y="2733811"/>
            <a:ext cx="5101590" cy="274307"/>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3B4150"/>
                </a:solidFill>
                <a:latin typeface="DM Sans" pitchFamily="34" charset="0"/>
                <a:ea typeface="DM Sans" pitchFamily="34" charset="-122"/>
                <a:cs typeface="DM Sans" pitchFamily="34" charset="-120"/>
              </a:rPr>
              <a:t>"[Institution] followed [sample] over [period]."</a:t>
            </a:r>
            <a:endParaRPr lang="en-US" sz="1400" dirty="0"/>
          </a:p>
        </p:txBody>
      </p:sp>
      <p:sp>
        <p:nvSpPr>
          <p:cNvPr id="12" name="Shape 10"/>
          <p:cNvSpPr/>
          <p:nvPr/>
        </p:nvSpPr>
        <p:spPr>
          <a:xfrm>
            <a:off x="812800" y="3166269"/>
            <a:ext cx="10566400" cy="0"/>
          </a:xfrm>
          <a:prstGeom prst="line">
            <a:avLst/>
          </a:prstGeom>
          <a:noFill/>
          <a:ln w="6350">
            <a:solidFill>
              <a:srgbClr val="BDB19A"/>
            </a:solidFill>
            <a:prstDash val="solid"/>
          </a:ln>
        </p:spPr>
      </p:sp>
      <p:sp>
        <p:nvSpPr>
          <p:cNvPr id="13" name="Text 11"/>
          <p:cNvSpPr/>
          <p:nvPr/>
        </p:nvSpPr>
        <p:spPr>
          <a:xfrm>
            <a:off x="812800" y="3294329"/>
            <a:ext cx="1701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3A18"/>
                </a:solidFill>
                <a:latin typeface="DM Sans" pitchFamily="34" charset="0"/>
                <a:ea typeface="DM Sans" pitchFamily="34" charset="-122"/>
                <a:cs typeface="DM Sans" pitchFamily="34" charset="-120"/>
              </a:rPr>
              <a:t>Takeaway</a:t>
            </a:r>
            <a:endParaRPr lang="en-US" sz="2000" dirty="0"/>
          </a:p>
        </p:txBody>
      </p:sp>
      <p:sp>
        <p:nvSpPr>
          <p:cNvPr id="14" name="Text 12"/>
          <p:cNvSpPr/>
          <p:nvPr/>
        </p:nvSpPr>
        <p:spPr>
          <a:xfrm>
            <a:off x="2667000" y="3347641"/>
            <a:ext cx="366268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81F"/>
                </a:solidFill>
                <a:latin typeface="DM Sans" pitchFamily="34" charset="0"/>
                <a:ea typeface="DM Sans" pitchFamily="34" charset="-122"/>
                <a:cs typeface="DM Sans" pitchFamily="34" charset="-120"/>
              </a:rPr>
              <a:t>What the reader should now know or do</a:t>
            </a:r>
            <a:endParaRPr lang="en-US" sz="1400" dirty="0"/>
          </a:p>
        </p:txBody>
      </p:sp>
      <p:sp>
        <p:nvSpPr>
          <p:cNvPr id="15" name="Text 13"/>
          <p:cNvSpPr/>
          <p:nvPr/>
        </p:nvSpPr>
        <p:spPr>
          <a:xfrm>
            <a:off x="6426200" y="3347641"/>
            <a:ext cx="5101590" cy="274307"/>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3B4150"/>
                </a:solidFill>
                <a:latin typeface="DM Sans" pitchFamily="34" charset="0"/>
                <a:ea typeface="DM Sans" pitchFamily="34" charset="-122"/>
                <a:cs typeface="DM Sans" pitchFamily="34" charset="-120"/>
              </a:rPr>
              <a:t>"If you [situation], this means [consequence]."</a:t>
            </a:r>
            <a:endParaRPr lang="en-US" sz="1400" dirty="0"/>
          </a:p>
        </p:txBody>
      </p:sp>
      <p:sp>
        <p:nvSpPr>
          <p:cNvPr id="16" name="Shape 14"/>
          <p:cNvSpPr/>
          <p:nvPr/>
        </p:nvSpPr>
        <p:spPr>
          <a:xfrm>
            <a:off x="812800" y="3780104"/>
            <a:ext cx="10566400" cy="0"/>
          </a:xfrm>
          <a:prstGeom prst="line">
            <a:avLst/>
          </a:prstGeom>
          <a:noFill/>
          <a:ln w="6350">
            <a:solidFill>
              <a:srgbClr val="BDB19A"/>
            </a:solidFill>
            <a:prstDash val="solid"/>
          </a:ln>
        </p:spPr>
      </p:sp>
      <p:sp>
        <p:nvSpPr>
          <p:cNvPr id="17" name="Text 15"/>
          <p:cNvSpPr/>
          <p:nvPr/>
        </p:nvSpPr>
        <p:spPr>
          <a:xfrm>
            <a:off x="812800" y="3908165"/>
            <a:ext cx="1701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3A18"/>
                </a:solidFill>
                <a:latin typeface="DM Sans" pitchFamily="34" charset="0"/>
                <a:ea typeface="DM Sans" pitchFamily="34" charset="-122"/>
                <a:cs typeface="DM Sans" pitchFamily="34" charset="-120"/>
              </a:rPr>
              <a:t>Source</a:t>
            </a:r>
            <a:endParaRPr lang="en-US" sz="2000" dirty="0"/>
          </a:p>
        </p:txBody>
      </p:sp>
      <p:sp>
        <p:nvSpPr>
          <p:cNvPr id="18" name="Text 16"/>
          <p:cNvSpPr/>
          <p:nvPr/>
        </p:nvSpPr>
        <p:spPr>
          <a:xfrm>
            <a:off x="2667000" y="3961476"/>
            <a:ext cx="366268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81F"/>
                </a:solidFill>
                <a:latin typeface="DM Sans" pitchFamily="34" charset="0"/>
                <a:ea typeface="DM Sans" pitchFamily="34" charset="-122"/>
                <a:cs typeface="DM Sans" pitchFamily="34" charset="-120"/>
              </a:rPr>
              <a:t>Name and link the original</a:t>
            </a:r>
            <a:endParaRPr lang="en-US" sz="1400" dirty="0"/>
          </a:p>
        </p:txBody>
      </p:sp>
      <p:sp>
        <p:nvSpPr>
          <p:cNvPr id="19" name="Text 17"/>
          <p:cNvSpPr/>
          <p:nvPr/>
        </p:nvSpPr>
        <p:spPr>
          <a:xfrm>
            <a:off x="6426200" y="3961476"/>
            <a:ext cx="5101590" cy="274307"/>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3B4150"/>
                </a:solidFill>
                <a:latin typeface="DM Sans" pitchFamily="34" charset="0"/>
                <a:ea typeface="DM Sans" pitchFamily="34" charset="-122"/>
                <a:cs typeface="DM Sans" pitchFamily="34" charset="-120"/>
              </a:rPr>
              <a:t>"Full study: [link]"</a:t>
            </a:r>
            <a:endParaRPr lang="en-US" sz="1400" dirty="0"/>
          </a:p>
        </p:txBody>
      </p:sp>
      <p:sp>
        <p:nvSpPr>
          <p:cNvPr id="20" name="Text 18"/>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849"/>
                </a:solidFill>
                <a:latin typeface="DM Sans" pitchFamily="34" charset="0"/>
                <a:ea typeface="DM Sans" pitchFamily="34" charset="-122"/>
                <a:cs typeface="DM Sans" pitchFamily="34" charset="-120"/>
              </a:rPr>
              <a:t>From News to Feed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E5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3A18"/>
                </a:solidFill>
                <a:latin typeface="DM Sans" pitchFamily="34" charset="0"/>
                <a:ea typeface="DM Sans" pitchFamily="34" charset="-122"/>
                <a:cs typeface="DM Sans" pitchFamily="34" charset="-120"/>
              </a:rPr>
              <a:t>FORMAT 1 · SINGLE POST</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F"/>
                </a:solidFill>
                <a:latin typeface="Libre Baskerville" pitchFamily="18" charset="0"/>
                <a:ea typeface="Libre Baskerville" pitchFamily="18" charset="-122"/>
                <a:cs typeface="Libre Baskerville" pitchFamily="18" charset="-120"/>
              </a:rPr>
              <a:t>Six hook patterns</a:t>
            </a:r>
            <a:endParaRPr lang="en-US" sz="3600" dirty="0"/>
          </a:p>
        </p:txBody>
      </p:sp>
      <p:sp>
        <p:nvSpPr>
          <p:cNvPr id="4" name="Shape 2"/>
          <p:cNvSpPr/>
          <p:nvPr/>
        </p:nvSpPr>
        <p:spPr>
          <a:xfrm>
            <a:off x="815975" y="1938604"/>
            <a:ext cx="3380317" cy="1338130"/>
          </a:xfrm>
          <a:prstGeom prst="roundRect">
            <a:avLst>
              <a:gd name="adj" fmla="val 7355"/>
            </a:avLst>
          </a:prstGeom>
          <a:solidFill>
            <a:srgbClr val="FFFDF8"/>
          </a:solidFill>
          <a:ln w="6350">
            <a:solidFill>
              <a:srgbClr val="D9CFBC"/>
            </a:solidFill>
            <a:prstDash val="solid"/>
          </a:ln>
        </p:spPr>
      </p:sp>
      <p:sp>
        <p:nvSpPr>
          <p:cNvPr id="5" name="Text 3"/>
          <p:cNvSpPr/>
          <p:nvPr/>
        </p:nvSpPr>
        <p:spPr>
          <a:xfrm>
            <a:off x="1045633" y="2168265"/>
            <a:ext cx="30086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The number</a:t>
            </a:r>
            <a:endParaRPr lang="en-US" sz="2000" dirty="0"/>
          </a:p>
        </p:txBody>
      </p:sp>
      <p:sp>
        <p:nvSpPr>
          <p:cNvPr id="6" name="Text 4"/>
          <p:cNvSpPr/>
          <p:nvPr/>
        </p:nvSpPr>
        <p:spPr>
          <a:xfrm>
            <a:off x="1045633" y="2549265"/>
            <a:ext cx="3008630" cy="274307"/>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3B4150"/>
                </a:solidFill>
                <a:latin typeface="DM Sans" pitchFamily="34" charset="0"/>
                <a:ea typeface="DM Sans" pitchFamily="34" charset="-122"/>
                <a:cs typeface="DM Sans" pitchFamily="34" charset="-120"/>
              </a:rPr>
              <a:t>"[X]% of [group] now [behaviour]."</a:t>
            </a:r>
            <a:endParaRPr lang="en-US" sz="1400" dirty="0"/>
          </a:p>
        </p:txBody>
      </p:sp>
      <p:sp>
        <p:nvSpPr>
          <p:cNvPr id="7" name="Shape 5"/>
          <p:cNvSpPr/>
          <p:nvPr/>
        </p:nvSpPr>
        <p:spPr>
          <a:xfrm>
            <a:off x="4405842" y="1938604"/>
            <a:ext cx="3380317" cy="1338130"/>
          </a:xfrm>
          <a:prstGeom prst="roundRect">
            <a:avLst>
              <a:gd name="adj" fmla="val 7355"/>
            </a:avLst>
          </a:prstGeom>
          <a:solidFill>
            <a:srgbClr val="FFFDF8"/>
          </a:solidFill>
          <a:ln w="6350">
            <a:solidFill>
              <a:srgbClr val="D9CFBC"/>
            </a:solidFill>
            <a:prstDash val="solid"/>
          </a:ln>
        </p:spPr>
      </p:sp>
      <p:sp>
        <p:nvSpPr>
          <p:cNvPr id="8" name="Text 6"/>
          <p:cNvSpPr/>
          <p:nvPr/>
        </p:nvSpPr>
        <p:spPr>
          <a:xfrm>
            <a:off x="4635500" y="2168265"/>
            <a:ext cx="30086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The reversal</a:t>
            </a:r>
            <a:endParaRPr lang="en-US" sz="2000" dirty="0"/>
          </a:p>
        </p:txBody>
      </p:sp>
      <p:sp>
        <p:nvSpPr>
          <p:cNvPr id="9" name="Text 7"/>
          <p:cNvSpPr/>
          <p:nvPr/>
        </p:nvSpPr>
        <p:spPr>
          <a:xfrm>
            <a:off x="4635500" y="2549265"/>
            <a:ext cx="3008630" cy="523214"/>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3B4150"/>
                </a:solidFill>
                <a:latin typeface="DM Sans" pitchFamily="34" charset="0"/>
                <a:ea typeface="DM Sans" pitchFamily="34" charset="-122"/>
                <a:cs typeface="DM Sans" pitchFamily="34" charset="-120"/>
              </a:rPr>
              <a:t>"Many people assume [A]. New data points to [B]."</a:t>
            </a:r>
            <a:endParaRPr lang="en-US" sz="1400" dirty="0"/>
          </a:p>
        </p:txBody>
      </p:sp>
      <p:sp>
        <p:nvSpPr>
          <p:cNvPr id="10" name="Shape 8"/>
          <p:cNvSpPr/>
          <p:nvPr/>
        </p:nvSpPr>
        <p:spPr>
          <a:xfrm>
            <a:off x="7995709" y="1938604"/>
            <a:ext cx="3380317" cy="1338130"/>
          </a:xfrm>
          <a:prstGeom prst="roundRect">
            <a:avLst>
              <a:gd name="adj" fmla="val 7355"/>
            </a:avLst>
          </a:prstGeom>
          <a:solidFill>
            <a:srgbClr val="FFFDF8"/>
          </a:solidFill>
          <a:ln w="6350">
            <a:solidFill>
              <a:srgbClr val="D9CFBC"/>
            </a:solidFill>
            <a:prstDash val="solid"/>
          </a:ln>
        </p:spPr>
      </p:sp>
      <p:sp>
        <p:nvSpPr>
          <p:cNvPr id="11" name="Text 9"/>
          <p:cNvSpPr/>
          <p:nvPr/>
        </p:nvSpPr>
        <p:spPr>
          <a:xfrm>
            <a:off x="8225367" y="2168265"/>
            <a:ext cx="30086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The question</a:t>
            </a:r>
            <a:endParaRPr lang="en-US" sz="2000" dirty="0"/>
          </a:p>
        </p:txBody>
      </p:sp>
      <p:sp>
        <p:nvSpPr>
          <p:cNvPr id="12" name="Text 10"/>
          <p:cNvSpPr/>
          <p:nvPr/>
        </p:nvSpPr>
        <p:spPr>
          <a:xfrm>
            <a:off x="8225367" y="2549265"/>
            <a:ext cx="3008630" cy="523214"/>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3B4150"/>
                </a:solidFill>
                <a:latin typeface="DM Sans" pitchFamily="34" charset="0"/>
                <a:ea typeface="DM Sans" pitchFamily="34" charset="-122"/>
                <a:cs typeface="DM Sans" pitchFamily="34" charset="-120"/>
              </a:rPr>
              <a:t>"What happens when [change] meets [group]?"</a:t>
            </a:r>
            <a:endParaRPr lang="en-US" sz="1400" dirty="0"/>
          </a:p>
        </p:txBody>
      </p:sp>
      <p:sp>
        <p:nvSpPr>
          <p:cNvPr id="13" name="Shape 11"/>
          <p:cNvSpPr/>
          <p:nvPr/>
        </p:nvSpPr>
        <p:spPr>
          <a:xfrm>
            <a:off x="815975" y="3486286"/>
            <a:ext cx="3380317" cy="1089223"/>
          </a:xfrm>
          <a:prstGeom prst="roundRect">
            <a:avLst>
              <a:gd name="adj" fmla="val 9036"/>
            </a:avLst>
          </a:prstGeom>
          <a:solidFill>
            <a:srgbClr val="FFFDF8"/>
          </a:solidFill>
          <a:ln w="6350">
            <a:solidFill>
              <a:srgbClr val="D9CFBC"/>
            </a:solidFill>
            <a:prstDash val="solid"/>
          </a:ln>
        </p:spPr>
      </p:sp>
      <p:sp>
        <p:nvSpPr>
          <p:cNvPr id="14" name="Text 12"/>
          <p:cNvSpPr/>
          <p:nvPr/>
        </p:nvSpPr>
        <p:spPr>
          <a:xfrm>
            <a:off x="1045633" y="3715941"/>
            <a:ext cx="30086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The stake</a:t>
            </a:r>
            <a:endParaRPr lang="en-US" sz="2000" dirty="0"/>
          </a:p>
        </p:txBody>
      </p:sp>
      <p:sp>
        <p:nvSpPr>
          <p:cNvPr id="15" name="Text 13"/>
          <p:cNvSpPr/>
          <p:nvPr/>
        </p:nvSpPr>
        <p:spPr>
          <a:xfrm>
            <a:off x="1045633" y="4096941"/>
            <a:ext cx="3147484" cy="274307"/>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3B4150"/>
                </a:solidFill>
                <a:latin typeface="DM Sans" pitchFamily="34" charset="0"/>
                <a:ea typeface="DM Sans" pitchFamily="34" charset="-122"/>
                <a:cs typeface="DM Sans" pitchFamily="34" charset="-120"/>
              </a:rPr>
              <a:t>"If you [situation], this affects you."</a:t>
            </a:r>
            <a:endParaRPr lang="en-US" sz="1400" dirty="0"/>
          </a:p>
        </p:txBody>
      </p:sp>
      <p:sp>
        <p:nvSpPr>
          <p:cNvPr id="16" name="Shape 14"/>
          <p:cNvSpPr/>
          <p:nvPr/>
        </p:nvSpPr>
        <p:spPr>
          <a:xfrm>
            <a:off x="4405842" y="3486286"/>
            <a:ext cx="3380317" cy="1089223"/>
          </a:xfrm>
          <a:prstGeom prst="roundRect">
            <a:avLst>
              <a:gd name="adj" fmla="val 9036"/>
            </a:avLst>
          </a:prstGeom>
          <a:solidFill>
            <a:srgbClr val="FFFDF8"/>
          </a:solidFill>
          <a:ln w="6350">
            <a:solidFill>
              <a:srgbClr val="D9CFBC"/>
            </a:solidFill>
            <a:prstDash val="solid"/>
          </a:ln>
        </p:spPr>
      </p:sp>
      <p:sp>
        <p:nvSpPr>
          <p:cNvPr id="17" name="Text 15"/>
          <p:cNvSpPr/>
          <p:nvPr/>
        </p:nvSpPr>
        <p:spPr>
          <a:xfrm>
            <a:off x="4635500" y="3715941"/>
            <a:ext cx="30086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The timeline</a:t>
            </a:r>
            <a:endParaRPr lang="en-US" sz="2000" dirty="0"/>
          </a:p>
        </p:txBody>
      </p:sp>
      <p:sp>
        <p:nvSpPr>
          <p:cNvPr id="18" name="Text 16"/>
          <p:cNvSpPr/>
          <p:nvPr/>
        </p:nvSpPr>
        <p:spPr>
          <a:xfrm>
            <a:off x="4635500" y="4096941"/>
            <a:ext cx="3008630" cy="274307"/>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3B4150"/>
                </a:solidFill>
                <a:latin typeface="DM Sans" pitchFamily="34" charset="0"/>
                <a:ea typeface="DM Sans" pitchFamily="34" charset="-122"/>
                <a:cs typeface="DM Sans" pitchFamily="34" charset="-120"/>
              </a:rPr>
              <a:t>"[N] years ago, [A]. Today, [B]."</a:t>
            </a:r>
            <a:endParaRPr lang="en-US" sz="1400" dirty="0"/>
          </a:p>
        </p:txBody>
      </p:sp>
      <p:sp>
        <p:nvSpPr>
          <p:cNvPr id="19" name="Shape 17"/>
          <p:cNvSpPr/>
          <p:nvPr/>
        </p:nvSpPr>
        <p:spPr>
          <a:xfrm>
            <a:off x="7995709" y="3486286"/>
            <a:ext cx="3380317" cy="1089223"/>
          </a:xfrm>
          <a:prstGeom prst="roundRect">
            <a:avLst>
              <a:gd name="adj" fmla="val 9036"/>
            </a:avLst>
          </a:prstGeom>
          <a:solidFill>
            <a:srgbClr val="FFFDF8"/>
          </a:solidFill>
          <a:ln w="6350">
            <a:solidFill>
              <a:srgbClr val="D9CFBC"/>
            </a:solidFill>
            <a:prstDash val="solid"/>
          </a:ln>
        </p:spPr>
      </p:sp>
      <p:sp>
        <p:nvSpPr>
          <p:cNvPr id="20" name="Text 18"/>
          <p:cNvSpPr/>
          <p:nvPr/>
        </p:nvSpPr>
        <p:spPr>
          <a:xfrm>
            <a:off x="8225367" y="3715941"/>
            <a:ext cx="300863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The plain claim</a:t>
            </a:r>
            <a:endParaRPr lang="en-US" sz="2000" dirty="0"/>
          </a:p>
        </p:txBody>
      </p:sp>
      <p:sp>
        <p:nvSpPr>
          <p:cNvPr id="21" name="Text 19"/>
          <p:cNvSpPr/>
          <p:nvPr/>
        </p:nvSpPr>
        <p:spPr>
          <a:xfrm>
            <a:off x="8225367" y="4096941"/>
            <a:ext cx="3008630" cy="274307"/>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3B4150"/>
                </a:solidFill>
                <a:latin typeface="DM Sans" pitchFamily="34" charset="0"/>
                <a:ea typeface="DM Sans" pitchFamily="34" charset="-122"/>
                <a:cs typeface="DM Sans" pitchFamily="34" charset="-120"/>
              </a:rPr>
              <a:t>"[Finding], according to [source]."</a:t>
            </a:r>
            <a:endParaRPr lang="en-US" sz="1400" dirty="0"/>
          </a:p>
        </p:txBody>
      </p:sp>
      <p:sp>
        <p:nvSpPr>
          <p:cNvPr id="22" name="Text 20"/>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849"/>
                </a:solidFill>
                <a:latin typeface="DM Sans" pitchFamily="34" charset="0"/>
                <a:ea typeface="DM Sans" pitchFamily="34" charset="-122"/>
                <a:cs typeface="DM Sans" pitchFamily="34" charset="-120"/>
              </a:rPr>
              <a:t>From News to Feed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CE5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3A18"/>
                </a:solidFill>
                <a:latin typeface="DM Sans" pitchFamily="34" charset="0"/>
                <a:ea typeface="DM Sans" pitchFamily="34" charset="-122"/>
                <a:cs typeface="DM Sans" pitchFamily="34" charset="-120"/>
              </a:rPr>
              <a:t>FORMAT 2 · THREAD</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F"/>
                </a:solidFill>
                <a:latin typeface="Libre Baskerville" pitchFamily="18" charset="0"/>
                <a:ea typeface="Libre Baskerville" pitchFamily="18" charset="-122"/>
                <a:cs typeface="Libre Baskerville" pitchFamily="18" charset="-120"/>
              </a:rPr>
              <a:t>Structure of a thread</a:t>
            </a:r>
            <a:endParaRPr lang="en-US" sz="3600" dirty="0"/>
          </a:p>
        </p:txBody>
      </p:sp>
      <p:sp>
        <p:nvSpPr>
          <p:cNvPr id="4" name="Shape 2"/>
          <p:cNvSpPr/>
          <p:nvPr/>
        </p:nvSpPr>
        <p:spPr>
          <a:xfrm>
            <a:off x="812800" y="1935429"/>
            <a:ext cx="1984573" cy="1806707"/>
          </a:xfrm>
          <a:prstGeom prst="roundRect">
            <a:avLst>
              <a:gd name="adj" fmla="val 5623"/>
            </a:avLst>
          </a:prstGeom>
          <a:solidFill>
            <a:srgbClr val="14181F"/>
          </a:solidFill>
          <a:ln/>
        </p:spPr>
      </p:sp>
      <p:sp>
        <p:nvSpPr>
          <p:cNvPr id="5" name="Text 3"/>
          <p:cNvSpPr/>
          <p:nvPr/>
        </p:nvSpPr>
        <p:spPr>
          <a:xfrm>
            <a:off x="1016000" y="2138629"/>
            <a:ext cx="16289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8A5C"/>
                </a:solidFill>
                <a:latin typeface="DM Sans" pitchFamily="34" charset="0"/>
                <a:ea typeface="DM Sans" pitchFamily="34" charset="-122"/>
                <a:cs typeface="DM Sans" pitchFamily="34" charset="-120"/>
              </a:rPr>
              <a:t>Post 1</a:t>
            </a:r>
            <a:endParaRPr lang="en-US" sz="1200" dirty="0"/>
          </a:p>
        </p:txBody>
      </p:sp>
      <p:sp>
        <p:nvSpPr>
          <p:cNvPr id="6" name="Text 4"/>
          <p:cNvSpPr/>
          <p:nvPr/>
        </p:nvSpPr>
        <p:spPr>
          <a:xfrm>
            <a:off x="1016000" y="2415449"/>
            <a:ext cx="162897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2EA"/>
                </a:solidFill>
                <a:latin typeface="DM Sans" pitchFamily="34" charset="0"/>
                <a:ea typeface="DM Sans" pitchFamily="34" charset="-122"/>
                <a:cs typeface="DM Sans" pitchFamily="34" charset="-120"/>
              </a:rPr>
              <a:t>Hook</a:t>
            </a:r>
            <a:endParaRPr lang="en-US" sz="2000" dirty="0"/>
          </a:p>
        </p:txBody>
      </p:sp>
      <p:sp>
        <p:nvSpPr>
          <p:cNvPr id="7" name="Text 5"/>
          <p:cNvSpPr/>
          <p:nvPr/>
        </p:nvSpPr>
        <p:spPr>
          <a:xfrm>
            <a:off x="1016000" y="2783749"/>
            <a:ext cx="1628973"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8D2C4"/>
                </a:solidFill>
                <a:latin typeface="DM Sans" pitchFamily="34" charset="0"/>
                <a:ea typeface="DM Sans" pitchFamily="34" charset="-122"/>
                <a:cs typeface="DM Sans" pitchFamily="34" charset="-120"/>
              </a:rPr>
              <a:t>Promise the payoff of reading on</a:t>
            </a:r>
            <a:endParaRPr lang="en-US" sz="1400" dirty="0"/>
          </a:p>
        </p:txBody>
      </p:sp>
      <p:sp>
        <p:nvSpPr>
          <p:cNvPr id="8" name="Shape 6"/>
          <p:cNvSpPr/>
          <p:nvPr/>
        </p:nvSpPr>
        <p:spPr>
          <a:xfrm>
            <a:off x="2952948" y="1938604"/>
            <a:ext cx="1986756" cy="1800357"/>
          </a:xfrm>
          <a:prstGeom prst="roundRect">
            <a:avLst>
              <a:gd name="adj" fmla="val 5467"/>
            </a:avLst>
          </a:prstGeom>
          <a:solidFill>
            <a:srgbClr val="FFFDF8"/>
          </a:solidFill>
          <a:ln w="6350">
            <a:solidFill>
              <a:srgbClr val="D9CFBC"/>
            </a:solidFill>
            <a:prstDash val="solid"/>
          </a:ln>
        </p:spPr>
      </p:sp>
      <p:sp>
        <p:nvSpPr>
          <p:cNvPr id="9" name="Text 7"/>
          <p:cNvSpPr/>
          <p:nvPr/>
        </p:nvSpPr>
        <p:spPr>
          <a:xfrm>
            <a:off x="3157207" y="2142865"/>
            <a:ext cx="16290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3A18"/>
                </a:solidFill>
                <a:latin typeface="DM Sans" pitchFamily="34" charset="0"/>
                <a:ea typeface="DM Sans" pitchFamily="34" charset="-122"/>
                <a:cs typeface="DM Sans" pitchFamily="34" charset="-120"/>
              </a:rPr>
              <a:t>Post 2</a:t>
            </a:r>
            <a:endParaRPr lang="en-US" sz="1200" dirty="0"/>
          </a:p>
        </p:txBody>
      </p:sp>
      <p:sp>
        <p:nvSpPr>
          <p:cNvPr id="10" name="Text 8"/>
          <p:cNvSpPr/>
          <p:nvPr/>
        </p:nvSpPr>
        <p:spPr>
          <a:xfrm>
            <a:off x="3157207" y="2419685"/>
            <a:ext cx="162904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Context</a:t>
            </a:r>
            <a:endParaRPr lang="en-US" sz="2000" dirty="0"/>
          </a:p>
        </p:txBody>
      </p:sp>
      <p:sp>
        <p:nvSpPr>
          <p:cNvPr id="11" name="Text 9"/>
          <p:cNvSpPr/>
          <p:nvPr/>
        </p:nvSpPr>
        <p:spPr>
          <a:xfrm>
            <a:off x="3157207" y="2787985"/>
            <a:ext cx="1629040"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Name the source and what it studied</a:t>
            </a:r>
            <a:endParaRPr lang="en-US" sz="1400" dirty="0"/>
          </a:p>
        </p:txBody>
      </p:sp>
      <p:sp>
        <p:nvSpPr>
          <p:cNvPr id="12" name="Shape 10"/>
          <p:cNvSpPr/>
          <p:nvPr/>
        </p:nvSpPr>
        <p:spPr>
          <a:xfrm>
            <a:off x="5098455" y="1938604"/>
            <a:ext cx="1986690" cy="1800357"/>
          </a:xfrm>
          <a:prstGeom prst="roundRect">
            <a:avLst>
              <a:gd name="adj" fmla="val 5467"/>
            </a:avLst>
          </a:prstGeom>
          <a:solidFill>
            <a:srgbClr val="FFFDF8"/>
          </a:solidFill>
          <a:ln w="6350">
            <a:solidFill>
              <a:srgbClr val="D9CFBC"/>
            </a:solidFill>
            <a:prstDash val="solid"/>
          </a:ln>
        </p:spPr>
      </p:sp>
      <p:sp>
        <p:nvSpPr>
          <p:cNvPr id="13" name="Text 11"/>
          <p:cNvSpPr/>
          <p:nvPr/>
        </p:nvSpPr>
        <p:spPr>
          <a:xfrm>
            <a:off x="5302713" y="2142865"/>
            <a:ext cx="16289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3A18"/>
                </a:solidFill>
                <a:latin typeface="DM Sans" pitchFamily="34" charset="0"/>
                <a:ea typeface="DM Sans" pitchFamily="34" charset="-122"/>
                <a:cs typeface="DM Sans" pitchFamily="34" charset="-120"/>
              </a:rPr>
              <a:t>Posts 3 to 6</a:t>
            </a:r>
            <a:endParaRPr lang="en-US" sz="1200" dirty="0"/>
          </a:p>
        </p:txBody>
      </p:sp>
      <p:sp>
        <p:nvSpPr>
          <p:cNvPr id="14" name="Text 12"/>
          <p:cNvSpPr/>
          <p:nvPr/>
        </p:nvSpPr>
        <p:spPr>
          <a:xfrm>
            <a:off x="5302713" y="2419685"/>
            <a:ext cx="162897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Points</a:t>
            </a:r>
            <a:endParaRPr lang="en-US" sz="2000" dirty="0"/>
          </a:p>
        </p:txBody>
      </p:sp>
      <p:sp>
        <p:nvSpPr>
          <p:cNvPr id="15" name="Text 13"/>
          <p:cNvSpPr/>
          <p:nvPr/>
        </p:nvSpPr>
        <p:spPr>
          <a:xfrm>
            <a:off x="5302713" y="2787985"/>
            <a:ext cx="1628973"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One idea per post, each able to stand alone</a:t>
            </a:r>
            <a:endParaRPr lang="en-US" sz="1400" dirty="0"/>
          </a:p>
        </p:txBody>
      </p:sp>
      <p:sp>
        <p:nvSpPr>
          <p:cNvPr id="16" name="Shape 14"/>
          <p:cNvSpPr/>
          <p:nvPr/>
        </p:nvSpPr>
        <p:spPr>
          <a:xfrm>
            <a:off x="7243895" y="1938604"/>
            <a:ext cx="1986690" cy="1800357"/>
          </a:xfrm>
          <a:prstGeom prst="roundRect">
            <a:avLst>
              <a:gd name="adj" fmla="val 5467"/>
            </a:avLst>
          </a:prstGeom>
          <a:solidFill>
            <a:srgbClr val="FFFDF8"/>
          </a:solidFill>
          <a:ln w="6350">
            <a:solidFill>
              <a:srgbClr val="D9CFBC"/>
            </a:solidFill>
            <a:prstDash val="solid"/>
          </a:ln>
        </p:spPr>
      </p:sp>
      <p:sp>
        <p:nvSpPr>
          <p:cNvPr id="17" name="Text 15"/>
          <p:cNvSpPr/>
          <p:nvPr/>
        </p:nvSpPr>
        <p:spPr>
          <a:xfrm>
            <a:off x="7448153" y="2142865"/>
            <a:ext cx="16289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3A18"/>
                </a:solidFill>
                <a:latin typeface="DM Sans" pitchFamily="34" charset="0"/>
                <a:ea typeface="DM Sans" pitchFamily="34" charset="-122"/>
                <a:cs typeface="DM Sans" pitchFamily="34" charset="-120"/>
              </a:rPr>
              <a:t>Post 7</a:t>
            </a:r>
            <a:endParaRPr lang="en-US" sz="1200" dirty="0"/>
          </a:p>
        </p:txBody>
      </p:sp>
      <p:sp>
        <p:nvSpPr>
          <p:cNvPr id="18" name="Text 16"/>
          <p:cNvSpPr/>
          <p:nvPr/>
        </p:nvSpPr>
        <p:spPr>
          <a:xfrm>
            <a:off x="7448153" y="2419685"/>
            <a:ext cx="162897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Meaning</a:t>
            </a:r>
            <a:endParaRPr lang="en-US" sz="2000" dirty="0"/>
          </a:p>
        </p:txBody>
      </p:sp>
      <p:sp>
        <p:nvSpPr>
          <p:cNvPr id="19" name="Text 17"/>
          <p:cNvSpPr/>
          <p:nvPr/>
        </p:nvSpPr>
        <p:spPr>
          <a:xfrm>
            <a:off x="7448153" y="2787985"/>
            <a:ext cx="1628973"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Say what changes for the reader</a:t>
            </a:r>
            <a:endParaRPr lang="en-US" sz="1400" dirty="0"/>
          </a:p>
        </p:txBody>
      </p:sp>
      <p:sp>
        <p:nvSpPr>
          <p:cNvPr id="20" name="Shape 18"/>
          <p:cNvSpPr/>
          <p:nvPr/>
        </p:nvSpPr>
        <p:spPr>
          <a:xfrm>
            <a:off x="9389335" y="1938604"/>
            <a:ext cx="1986690" cy="1800357"/>
          </a:xfrm>
          <a:prstGeom prst="roundRect">
            <a:avLst>
              <a:gd name="adj" fmla="val 5467"/>
            </a:avLst>
          </a:prstGeom>
          <a:solidFill>
            <a:srgbClr val="FFFDF8"/>
          </a:solidFill>
          <a:ln w="6350">
            <a:solidFill>
              <a:srgbClr val="D9CFBC"/>
            </a:solidFill>
            <a:prstDash val="solid"/>
          </a:ln>
        </p:spPr>
      </p:sp>
      <p:sp>
        <p:nvSpPr>
          <p:cNvPr id="21" name="Text 19"/>
          <p:cNvSpPr/>
          <p:nvPr/>
        </p:nvSpPr>
        <p:spPr>
          <a:xfrm>
            <a:off x="9593593" y="2142865"/>
            <a:ext cx="16289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3A18"/>
                </a:solidFill>
                <a:latin typeface="DM Sans" pitchFamily="34" charset="0"/>
                <a:ea typeface="DM Sans" pitchFamily="34" charset="-122"/>
                <a:cs typeface="DM Sans" pitchFamily="34" charset="-120"/>
              </a:rPr>
              <a:t>Post 8</a:t>
            </a:r>
            <a:endParaRPr lang="en-US" sz="1200" dirty="0"/>
          </a:p>
        </p:txBody>
      </p:sp>
      <p:sp>
        <p:nvSpPr>
          <p:cNvPr id="22" name="Text 20"/>
          <p:cNvSpPr/>
          <p:nvPr/>
        </p:nvSpPr>
        <p:spPr>
          <a:xfrm>
            <a:off x="9593593" y="2419685"/>
            <a:ext cx="162897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Close</a:t>
            </a:r>
            <a:endParaRPr lang="en-US" sz="2000" dirty="0"/>
          </a:p>
        </p:txBody>
      </p:sp>
      <p:sp>
        <p:nvSpPr>
          <p:cNvPr id="23" name="Text 21"/>
          <p:cNvSpPr/>
          <p:nvPr/>
        </p:nvSpPr>
        <p:spPr>
          <a:xfrm>
            <a:off x="9593593" y="2787985"/>
            <a:ext cx="1628973"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Link the source and ask one question</a:t>
            </a:r>
            <a:endParaRPr lang="en-US" sz="1400" dirty="0"/>
          </a:p>
        </p:txBody>
      </p:sp>
      <p:sp>
        <p:nvSpPr>
          <p:cNvPr id="24" name="Text 22"/>
          <p:cNvSpPr/>
          <p:nvPr/>
        </p:nvSpPr>
        <p:spPr>
          <a:xfrm>
            <a:off x="812800" y="4046934"/>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Number the posts so readers know where they are and how much is left.</a:t>
            </a:r>
            <a:endParaRPr lang="en-US" sz="1400" dirty="0"/>
          </a:p>
        </p:txBody>
      </p:sp>
      <p:sp>
        <p:nvSpPr>
          <p:cNvPr id="25" name="Text 23"/>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849"/>
                </a:solidFill>
                <a:latin typeface="DM Sans" pitchFamily="34" charset="0"/>
                <a:ea typeface="DM Sans" pitchFamily="34" charset="-122"/>
                <a:cs typeface="DM Sans" pitchFamily="34" charset="-120"/>
              </a:rPr>
              <a:t>From News to Feed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CE5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3A18"/>
                </a:solidFill>
                <a:latin typeface="DM Sans" pitchFamily="34" charset="0"/>
                <a:ea typeface="DM Sans" pitchFamily="34" charset="-122"/>
                <a:cs typeface="DM Sans" pitchFamily="34" charset="-120"/>
              </a:rPr>
              <a:t>FORMAT 2 · THREAD</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F"/>
                </a:solidFill>
                <a:latin typeface="Libre Baskerville" pitchFamily="18" charset="0"/>
                <a:ea typeface="Libre Baskerville" pitchFamily="18" charset="-122"/>
                <a:cs typeface="Libre Baskerville" pitchFamily="18" charset="-120"/>
              </a:rPr>
              <a:t>Thread habits to keep and to drop</a:t>
            </a:r>
            <a:endParaRPr lang="en-US" sz="3600" dirty="0"/>
          </a:p>
        </p:txBody>
      </p:sp>
      <p:sp>
        <p:nvSpPr>
          <p:cNvPr id="4" name="Shape 2"/>
          <p:cNvSpPr/>
          <p:nvPr/>
        </p:nvSpPr>
        <p:spPr>
          <a:xfrm>
            <a:off x="815975" y="1938604"/>
            <a:ext cx="5175250" cy="2008717"/>
          </a:xfrm>
          <a:prstGeom prst="roundRect">
            <a:avLst>
              <a:gd name="adj" fmla="val 4900"/>
            </a:avLst>
          </a:prstGeom>
          <a:solidFill>
            <a:srgbClr val="FFFDF8"/>
          </a:solidFill>
          <a:ln w="6350">
            <a:solidFill>
              <a:srgbClr val="D9CFBC"/>
            </a:solidFill>
            <a:prstDash val="solid"/>
          </a:ln>
        </p:spPr>
      </p:sp>
      <p:sp>
        <p:nvSpPr>
          <p:cNvPr id="5" name="Text 3"/>
          <p:cNvSpPr/>
          <p:nvPr/>
        </p:nvSpPr>
        <p:spPr>
          <a:xfrm>
            <a:off x="1071033" y="2193665"/>
            <a:ext cx="480508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5FBF"/>
                </a:solidFill>
                <a:latin typeface="DM Sans" pitchFamily="34" charset="0"/>
                <a:ea typeface="DM Sans" pitchFamily="34" charset="-122"/>
                <a:cs typeface="DM Sans" pitchFamily="34" charset="-120"/>
              </a:rPr>
              <a:t>Keep</a:t>
            </a:r>
            <a:endParaRPr lang="en-US" sz="2000" dirty="0"/>
          </a:p>
        </p:txBody>
      </p:sp>
      <p:sp>
        <p:nvSpPr>
          <p:cNvPr id="6" name="Text 4"/>
          <p:cNvSpPr/>
          <p:nvPr/>
        </p:nvSpPr>
        <p:spPr>
          <a:xfrm>
            <a:off x="1155615" y="2625465"/>
            <a:ext cx="4712885" cy="10922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3B4150"/>
                </a:solidFill>
                <a:latin typeface="DM Sans" pitchFamily="34" charset="0"/>
                <a:ea typeface="DM Sans" pitchFamily="34" charset="-122"/>
                <a:cs typeface="DM Sans" pitchFamily="34" charset="-120"/>
              </a:rPr>
              <a:t>A first post that works on its own</a:t>
            </a:r>
            <a:endParaRPr lang="en-US" sz="1400" dirty="0"/>
          </a:p>
          <a:p>
            <a:pPr algn="l" marL="169418" indent="-169418">
              <a:lnSpc>
                <a:spcPts val="2100"/>
              </a:lnSpc>
              <a:buSzPct val="100000"/>
              <a:buChar char="•"/>
            </a:pPr>
            <a:r>
              <a:rPr lang="en-US" sz="1400" dirty="0">
                <a:solidFill>
                  <a:srgbClr val="3B4150"/>
                </a:solidFill>
                <a:latin typeface="DM Sans" pitchFamily="34" charset="0"/>
                <a:ea typeface="DM Sans" pitchFamily="34" charset="-122"/>
                <a:cs typeface="DM Sans" pitchFamily="34" charset="-120"/>
              </a:rPr>
              <a:t>One idea per post</a:t>
            </a:r>
            <a:endParaRPr lang="en-US" sz="1400" dirty="0"/>
          </a:p>
          <a:p>
            <a:pPr algn="l" marL="169418" indent="-169418">
              <a:lnSpc>
                <a:spcPts val="2100"/>
              </a:lnSpc>
              <a:buSzPct val="100000"/>
              <a:buChar char="•"/>
            </a:pPr>
            <a:r>
              <a:rPr lang="en-US" sz="1400" dirty="0">
                <a:solidFill>
                  <a:srgbClr val="3B4150"/>
                </a:solidFill>
                <a:latin typeface="DM Sans" pitchFamily="34" charset="0"/>
                <a:ea typeface="DM Sans" pitchFamily="34" charset="-122"/>
                <a:cs typeface="DM Sans" pitchFamily="34" charset="-120"/>
              </a:rPr>
              <a:t>The key number in a post of its own</a:t>
            </a:r>
            <a:endParaRPr lang="en-US" sz="1400" dirty="0"/>
          </a:p>
          <a:p>
            <a:pPr algn="l" marL="169418" indent="-169418">
              <a:lnSpc>
                <a:spcPts val="2100"/>
              </a:lnSpc>
              <a:buSzPct val="100000"/>
              <a:buChar char="•"/>
            </a:pPr>
            <a:r>
              <a:rPr lang="en-US" sz="1400" dirty="0">
                <a:solidFill>
                  <a:srgbClr val="3B4150"/>
                </a:solidFill>
                <a:latin typeface="DM Sans" pitchFamily="34" charset="0"/>
                <a:ea typeface="DM Sans" pitchFamily="34" charset="-122"/>
                <a:cs typeface="DM Sans" pitchFamily="34" charset="-120"/>
              </a:rPr>
              <a:t>The source link in the final post</a:t>
            </a:r>
            <a:endParaRPr lang="en-US" sz="1400" dirty="0"/>
          </a:p>
        </p:txBody>
      </p:sp>
      <p:sp>
        <p:nvSpPr>
          <p:cNvPr id="7" name="Shape 5"/>
          <p:cNvSpPr/>
          <p:nvPr/>
        </p:nvSpPr>
        <p:spPr>
          <a:xfrm>
            <a:off x="6200775" y="1938604"/>
            <a:ext cx="5175250" cy="2008717"/>
          </a:xfrm>
          <a:prstGeom prst="roundRect">
            <a:avLst>
              <a:gd name="adj" fmla="val 4900"/>
            </a:avLst>
          </a:prstGeom>
          <a:solidFill>
            <a:srgbClr val="FFFDF8"/>
          </a:solidFill>
          <a:ln w="6350">
            <a:solidFill>
              <a:srgbClr val="D9CFBC"/>
            </a:solidFill>
            <a:prstDash val="solid"/>
          </a:ln>
        </p:spPr>
      </p:sp>
      <p:sp>
        <p:nvSpPr>
          <p:cNvPr id="8" name="Text 6"/>
          <p:cNvSpPr/>
          <p:nvPr/>
        </p:nvSpPr>
        <p:spPr>
          <a:xfrm>
            <a:off x="6455833" y="2193665"/>
            <a:ext cx="480508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3A18"/>
                </a:solidFill>
                <a:latin typeface="DM Sans" pitchFamily="34" charset="0"/>
                <a:ea typeface="DM Sans" pitchFamily="34" charset="-122"/>
                <a:cs typeface="DM Sans" pitchFamily="34" charset="-120"/>
              </a:rPr>
              <a:t>Drop</a:t>
            </a:r>
            <a:endParaRPr lang="en-US" sz="2000" dirty="0"/>
          </a:p>
        </p:txBody>
      </p:sp>
      <p:sp>
        <p:nvSpPr>
          <p:cNvPr id="9" name="Text 7"/>
          <p:cNvSpPr/>
          <p:nvPr/>
        </p:nvSpPr>
        <p:spPr>
          <a:xfrm>
            <a:off x="6540415" y="2625465"/>
            <a:ext cx="4712885" cy="10922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3B4150"/>
                </a:solidFill>
                <a:latin typeface="DM Sans" pitchFamily="34" charset="0"/>
                <a:ea typeface="DM Sans" pitchFamily="34" charset="-122"/>
                <a:cs typeface="DM Sans" pitchFamily="34" charset="-120"/>
              </a:rPr>
              <a:t>Sentences split across two posts</a:t>
            </a:r>
            <a:endParaRPr lang="en-US" sz="1400" dirty="0"/>
          </a:p>
          <a:p>
            <a:pPr algn="l" marL="169418" indent="-169418">
              <a:lnSpc>
                <a:spcPts val="2100"/>
              </a:lnSpc>
              <a:buSzPct val="100000"/>
              <a:buChar char="•"/>
            </a:pPr>
            <a:r>
              <a:rPr lang="en-US" sz="1400" dirty="0">
                <a:solidFill>
                  <a:srgbClr val="3B4150"/>
                </a:solidFill>
                <a:latin typeface="DM Sans" pitchFamily="34" charset="0"/>
                <a:ea typeface="DM Sans" pitchFamily="34" charset="-122"/>
                <a:cs typeface="DM Sans" pitchFamily="34" charset="-120"/>
              </a:rPr>
              <a:t>Padding to reach a target length</a:t>
            </a:r>
            <a:endParaRPr lang="en-US" sz="1400" dirty="0"/>
          </a:p>
          <a:p>
            <a:pPr algn="l" marL="169418" indent="-169418">
              <a:lnSpc>
                <a:spcPts val="2100"/>
              </a:lnSpc>
              <a:buSzPct val="100000"/>
              <a:buChar char="•"/>
            </a:pPr>
            <a:r>
              <a:rPr lang="en-US" sz="1400" dirty="0">
                <a:solidFill>
                  <a:srgbClr val="3B4150"/>
                </a:solidFill>
                <a:latin typeface="DM Sans" pitchFamily="34" charset="0"/>
                <a:ea typeface="DM Sans" pitchFamily="34" charset="-122"/>
                <a:cs typeface="DM Sans" pitchFamily="34" charset="-120"/>
              </a:rPr>
              <a:t>The finding held back until the end</a:t>
            </a:r>
            <a:endParaRPr lang="en-US" sz="1400" dirty="0"/>
          </a:p>
          <a:p>
            <a:pPr algn="l" marL="169418" indent="-169418">
              <a:lnSpc>
                <a:spcPts val="2100"/>
              </a:lnSpc>
              <a:buSzPct val="100000"/>
              <a:buChar char="•"/>
            </a:pPr>
            <a:r>
              <a:rPr lang="en-US" sz="1400" dirty="0">
                <a:solidFill>
                  <a:srgbClr val="3B4150"/>
                </a:solidFill>
                <a:latin typeface="DM Sans" pitchFamily="34" charset="0"/>
                <a:ea typeface="DM Sans" pitchFamily="34" charset="-122"/>
                <a:cs typeface="DM Sans" pitchFamily="34" charset="-120"/>
              </a:rPr>
              <a:t>Jargon copied from the source</a:t>
            </a:r>
            <a:endParaRPr lang="en-US" sz="1400" dirty="0"/>
          </a:p>
        </p:txBody>
      </p:sp>
      <p:sp>
        <p:nvSpPr>
          <p:cNvPr id="10" name="Text 8"/>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849"/>
                </a:solidFill>
                <a:latin typeface="DM Sans" pitchFamily="34" charset="0"/>
                <a:ea typeface="DM Sans" pitchFamily="34" charset="-122"/>
                <a:cs typeface="DM Sans" pitchFamily="34" charset="-120"/>
              </a:rPr>
              <a:t>From News to Feed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CE5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3A18"/>
                </a:solidFill>
                <a:latin typeface="DM Sans" pitchFamily="34" charset="0"/>
                <a:ea typeface="DM Sans" pitchFamily="34" charset="-122"/>
                <a:cs typeface="DM Sans" pitchFamily="34" charset="-120"/>
              </a:rPr>
              <a:t>FORMAT 3 · CAROUSEL</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F"/>
                </a:solidFill>
                <a:latin typeface="Libre Baskerville" pitchFamily="18" charset="0"/>
                <a:ea typeface="Libre Baskerville" pitchFamily="18" charset="-122"/>
                <a:cs typeface="Libre Baskerville" pitchFamily="18" charset="-120"/>
              </a:rPr>
              <a:t>Structure of a carousel</a:t>
            </a:r>
            <a:endParaRPr lang="en-US" sz="3600" dirty="0"/>
          </a:p>
        </p:txBody>
      </p:sp>
      <p:sp>
        <p:nvSpPr>
          <p:cNvPr id="4" name="Shape 2"/>
          <p:cNvSpPr/>
          <p:nvPr/>
        </p:nvSpPr>
        <p:spPr>
          <a:xfrm>
            <a:off x="812800" y="1935429"/>
            <a:ext cx="1632612" cy="1755907"/>
          </a:xfrm>
          <a:prstGeom prst="roundRect">
            <a:avLst>
              <a:gd name="adj" fmla="val 6223"/>
            </a:avLst>
          </a:prstGeom>
          <a:solidFill>
            <a:srgbClr val="A93A18"/>
          </a:solidFill>
          <a:ln/>
        </p:spPr>
      </p:sp>
      <p:sp>
        <p:nvSpPr>
          <p:cNvPr id="5" name="Text 3"/>
          <p:cNvSpPr/>
          <p:nvPr/>
        </p:nvSpPr>
        <p:spPr>
          <a:xfrm>
            <a:off x="990600" y="2113229"/>
            <a:ext cx="13278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8EE"/>
                </a:solidFill>
                <a:latin typeface="DM Sans" pitchFamily="34" charset="0"/>
                <a:ea typeface="DM Sans" pitchFamily="34" charset="-122"/>
                <a:cs typeface="DM Sans" pitchFamily="34" charset="-120"/>
              </a:rPr>
              <a:t>Slide 1</a:t>
            </a:r>
            <a:endParaRPr lang="en-US" sz="1200" dirty="0"/>
          </a:p>
        </p:txBody>
      </p:sp>
      <p:sp>
        <p:nvSpPr>
          <p:cNvPr id="6" name="Text 4"/>
          <p:cNvSpPr/>
          <p:nvPr/>
        </p:nvSpPr>
        <p:spPr>
          <a:xfrm>
            <a:off x="990600" y="2390049"/>
            <a:ext cx="132781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F8EE"/>
                </a:solidFill>
                <a:latin typeface="DM Sans" pitchFamily="34" charset="0"/>
                <a:ea typeface="DM Sans" pitchFamily="34" charset="-122"/>
                <a:cs typeface="DM Sans" pitchFamily="34" charset="-120"/>
              </a:rPr>
              <a:t>Cover</a:t>
            </a:r>
            <a:endParaRPr lang="en-US" sz="2000" dirty="0"/>
          </a:p>
        </p:txBody>
      </p:sp>
      <p:sp>
        <p:nvSpPr>
          <p:cNvPr id="7" name="Text 5"/>
          <p:cNvSpPr/>
          <p:nvPr/>
        </p:nvSpPr>
        <p:spPr>
          <a:xfrm>
            <a:off x="990600" y="2758349"/>
            <a:ext cx="1327811"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8EE"/>
                </a:solidFill>
                <a:latin typeface="DM Sans" pitchFamily="34" charset="0"/>
                <a:ea typeface="DM Sans" pitchFamily="34" charset="-122"/>
                <a:cs typeface="DM Sans" pitchFamily="34" charset="-120"/>
              </a:rPr>
              <a:t>A headline that states the payoff</a:t>
            </a:r>
            <a:endParaRPr lang="en-US" sz="1400" dirty="0"/>
          </a:p>
        </p:txBody>
      </p:sp>
      <p:sp>
        <p:nvSpPr>
          <p:cNvPr id="8" name="Shape 6"/>
          <p:cNvSpPr/>
          <p:nvPr/>
        </p:nvSpPr>
        <p:spPr>
          <a:xfrm>
            <a:off x="2597812" y="1935429"/>
            <a:ext cx="1632678" cy="1755907"/>
          </a:xfrm>
          <a:prstGeom prst="roundRect">
            <a:avLst>
              <a:gd name="adj" fmla="val 6223"/>
            </a:avLst>
          </a:prstGeom>
          <a:solidFill>
            <a:srgbClr val="14181F"/>
          </a:solidFill>
          <a:ln/>
        </p:spPr>
      </p:sp>
      <p:sp>
        <p:nvSpPr>
          <p:cNvPr id="9" name="Text 7"/>
          <p:cNvSpPr/>
          <p:nvPr/>
        </p:nvSpPr>
        <p:spPr>
          <a:xfrm>
            <a:off x="2775612" y="2113229"/>
            <a:ext cx="13278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8A5C"/>
                </a:solidFill>
                <a:latin typeface="DM Sans" pitchFamily="34" charset="0"/>
                <a:ea typeface="DM Sans" pitchFamily="34" charset="-122"/>
                <a:cs typeface="DM Sans" pitchFamily="34" charset="-120"/>
              </a:rPr>
              <a:t>Slide 2</a:t>
            </a:r>
            <a:endParaRPr lang="en-US" sz="1200" dirty="0"/>
          </a:p>
        </p:txBody>
      </p:sp>
      <p:sp>
        <p:nvSpPr>
          <p:cNvPr id="10" name="Text 8"/>
          <p:cNvSpPr/>
          <p:nvPr/>
        </p:nvSpPr>
        <p:spPr>
          <a:xfrm>
            <a:off x="2775612" y="2390049"/>
            <a:ext cx="132787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2EA"/>
                </a:solidFill>
                <a:latin typeface="DM Sans" pitchFamily="34" charset="0"/>
                <a:ea typeface="DM Sans" pitchFamily="34" charset="-122"/>
                <a:cs typeface="DM Sans" pitchFamily="34" charset="-120"/>
              </a:rPr>
              <a:t>Problem</a:t>
            </a:r>
            <a:endParaRPr lang="en-US" sz="2000" dirty="0"/>
          </a:p>
        </p:txBody>
      </p:sp>
      <p:sp>
        <p:nvSpPr>
          <p:cNvPr id="11" name="Text 9"/>
          <p:cNvSpPr/>
          <p:nvPr/>
        </p:nvSpPr>
        <p:spPr>
          <a:xfrm>
            <a:off x="2775612" y="2758349"/>
            <a:ext cx="1327878"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8D2C4"/>
                </a:solidFill>
                <a:latin typeface="DM Sans" pitchFamily="34" charset="0"/>
                <a:ea typeface="DM Sans" pitchFamily="34" charset="-122"/>
                <a:cs typeface="DM Sans" pitchFamily="34" charset="-120"/>
              </a:rPr>
              <a:t>Why this matters now</a:t>
            </a:r>
            <a:endParaRPr lang="en-US" sz="1400" dirty="0"/>
          </a:p>
        </p:txBody>
      </p:sp>
      <p:sp>
        <p:nvSpPr>
          <p:cNvPr id="12" name="Shape 10"/>
          <p:cNvSpPr/>
          <p:nvPr/>
        </p:nvSpPr>
        <p:spPr>
          <a:xfrm>
            <a:off x="4382889" y="1935429"/>
            <a:ext cx="1632612" cy="1755907"/>
          </a:xfrm>
          <a:prstGeom prst="roundRect">
            <a:avLst>
              <a:gd name="adj" fmla="val 6223"/>
            </a:avLst>
          </a:prstGeom>
          <a:solidFill>
            <a:srgbClr val="14181F"/>
          </a:solidFill>
          <a:ln/>
        </p:spPr>
      </p:sp>
      <p:sp>
        <p:nvSpPr>
          <p:cNvPr id="13" name="Text 11"/>
          <p:cNvSpPr/>
          <p:nvPr/>
        </p:nvSpPr>
        <p:spPr>
          <a:xfrm>
            <a:off x="4560689" y="2113229"/>
            <a:ext cx="13278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8A5C"/>
                </a:solidFill>
                <a:latin typeface="DM Sans" pitchFamily="34" charset="0"/>
                <a:ea typeface="DM Sans" pitchFamily="34" charset="-122"/>
                <a:cs typeface="DM Sans" pitchFamily="34" charset="-120"/>
              </a:rPr>
              <a:t>Slide 3</a:t>
            </a:r>
            <a:endParaRPr lang="en-US" sz="1200" dirty="0"/>
          </a:p>
        </p:txBody>
      </p:sp>
      <p:sp>
        <p:nvSpPr>
          <p:cNvPr id="14" name="Text 12"/>
          <p:cNvSpPr/>
          <p:nvPr/>
        </p:nvSpPr>
        <p:spPr>
          <a:xfrm>
            <a:off x="4560689" y="2390049"/>
            <a:ext cx="132781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2EA"/>
                </a:solidFill>
                <a:latin typeface="DM Sans" pitchFamily="34" charset="0"/>
                <a:ea typeface="DM Sans" pitchFamily="34" charset="-122"/>
                <a:cs typeface="DM Sans" pitchFamily="34" charset="-120"/>
              </a:rPr>
              <a:t>Finding</a:t>
            </a:r>
            <a:endParaRPr lang="en-US" sz="2000" dirty="0"/>
          </a:p>
        </p:txBody>
      </p:sp>
      <p:sp>
        <p:nvSpPr>
          <p:cNvPr id="15" name="Text 13"/>
          <p:cNvSpPr/>
          <p:nvPr/>
        </p:nvSpPr>
        <p:spPr>
          <a:xfrm>
            <a:off x="4560689" y="2758349"/>
            <a:ext cx="1327811"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8D2C4"/>
                </a:solidFill>
                <a:latin typeface="DM Sans" pitchFamily="34" charset="0"/>
                <a:ea typeface="DM Sans" pitchFamily="34" charset="-122"/>
                <a:cs typeface="DM Sans" pitchFamily="34" charset="-120"/>
              </a:rPr>
              <a:t>The key result in one line</a:t>
            </a:r>
            <a:endParaRPr lang="en-US" sz="1400" dirty="0"/>
          </a:p>
        </p:txBody>
      </p:sp>
      <p:sp>
        <p:nvSpPr>
          <p:cNvPr id="16" name="Shape 14"/>
          <p:cNvSpPr/>
          <p:nvPr/>
        </p:nvSpPr>
        <p:spPr>
          <a:xfrm>
            <a:off x="6167901" y="1935429"/>
            <a:ext cx="1632678" cy="1755907"/>
          </a:xfrm>
          <a:prstGeom prst="roundRect">
            <a:avLst>
              <a:gd name="adj" fmla="val 6223"/>
            </a:avLst>
          </a:prstGeom>
          <a:solidFill>
            <a:srgbClr val="14181F"/>
          </a:solidFill>
          <a:ln/>
        </p:spPr>
      </p:sp>
      <p:sp>
        <p:nvSpPr>
          <p:cNvPr id="17" name="Text 15"/>
          <p:cNvSpPr/>
          <p:nvPr/>
        </p:nvSpPr>
        <p:spPr>
          <a:xfrm>
            <a:off x="6345701" y="2113229"/>
            <a:ext cx="13278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8A5C"/>
                </a:solidFill>
                <a:latin typeface="DM Sans" pitchFamily="34" charset="0"/>
                <a:ea typeface="DM Sans" pitchFamily="34" charset="-122"/>
                <a:cs typeface="DM Sans" pitchFamily="34" charset="-120"/>
              </a:rPr>
              <a:t>Slide 4</a:t>
            </a:r>
            <a:endParaRPr lang="en-US" sz="1200" dirty="0"/>
          </a:p>
        </p:txBody>
      </p:sp>
      <p:sp>
        <p:nvSpPr>
          <p:cNvPr id="18" name="Text 16"/>
          <p:cNvSpPr/>
          <p:nvPr/>
        </p:nvSpPr>
        <p:spPr>
          <a:xfrm>
            <a:off x="6345701" y="2390049"/>
            <a:ext cx="132787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2EA"/>
                </a:solidFill>
                <a:latin typeface="DM Sans" pitchFamily="34" charset="0"/>
                <a:ea typeface="DM Sans" pitchFamily="34" charset="-122"/>
                <a:cs typeface="DM Sans" pitchFamily="34" charset="-120"/>
              </a:rPr>
              <a:t>Proof</a:t>
            </a:r>
            <a:endParaRPr lang="en-US" sz="2000" dirty="0"/>
          </a:p>
        </p:txBody>
      </p:sp>
      <p:sp>
        <p:nvSpPr>
          <p:cNvPr id="19" name="Text 17"/>
          <p:cNvSpPr/>
          <p:nvPr/>
        </p:nvSpPr>
        <p:spPr>
          <a:xfrm>
            <a:off x="6345701" y="2758349"/>
            <a:ext cx="1327878"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8D2C4"/>
                </a:solidFill>
                <a:latin typeface="DM Sans" pitchFamily="34" charset="0"/>
                <a:ea typeface="DM Sans" pitchFamily="34" charset="-122"/>
                <a:cs typeface="DM Sans" pitchFamily="34" charset="-120"/>
              </a:rPr>
              <a:t>The number, chart or quote</a:t>
            </a:r>
            <a:endParaRPr lang="en-US" sz="1400" dirty="0"/>
          </a:p>
        </p:txBody>
      </p:sp>
      <p:sp>
        <p:nvSpPr>
          <p:cNvPr id="20" name="Shape 18"/>
          <p:cNvSpPr/>
          <p:nvPr/>
        </p:nvSpPr>
        <p:spPr>
          <a:xfrm>
            <a:off x="7952978" y="1935429"/>
            <a:ext cx="1632678" cy="1755907"/>
          </a:xfrm>
          <a:prstGeom prst="roundRect">
            <a:avLst>
              <a:gd name="adj" fmla="val 6223"/>
            </a:avLst>
          </a:prstGeom>
          <a:solidFill>
            <a:srgbClr val="14181F"/>
          </a:solidFill>
          <a:ln/>
        </p:spPr>
      </p:sp>
      <p:sp>
        <p:nvSpPr>
          <p:cNvPr id="21" name="Text 19"/>
          <p:cNvSpPr/>
          <p:nvPr/>
        </p:nvSpPr>
        <p:spPr>
          <a:xfrm>
            <a:off x="8130778" y="2113229"/>
            <a:ext cx="13278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8A5C"/>
                </a:solidFill>
                <a:latin typeface="DM Sans" pitchFamily="34" charset="0"/>
                <a:ea typeface="DM Sans" pitchFamily="34" charset="-122"/>
                <a:cs typeface="DM Sans" pitchFamily="34" charset="-120"/>
              </a:rPr>
              <a:t>Slide 5</a:t>
            </a:r>
            <a:endParaRPr lang="en-US" sz="1200" dirty="0"/>
          </a:p>
        </p:txBody>
      </p:sp>
      <p:sp>
        <p:nvSpPr>
          <p:cNvPr id="22" name="Text 20"/>
          <p:cNvSpPr/>
          <p:nvPr/>
        </p:nvSpPr>
        <p:spPr>
          <a:xfrm>
            <a:off x="8130778" y="2390049"/>
            <a:ext cx="132787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2EA"/>
                </a:solidFill>
                <a:latin typeface="DM Sans" pitchFamily="34" charset="0"/>
                <a:ea typeface="DM Sans" pitchFamily="34" charset="-122"/>
                <a:cs typeface="DM Sans" pitchFamily="34" charset="-120"/>
              </a:rPr>
              <a:t>Meaning</a:t>
            </a:r>
            <a:endParaRPr lang="en-US" sz="2000" dirty="0"/>
          </a:p>
        </p:txBody>
      </p:sp>
      <p:sp>
        <p:nvSpPr>
          <p:cNvPr id="23" name="Text 21"/>
          <p:cNvSpPr/>
          <p:nvPr/>
        </p:nvSpPr>
        <p:spPr>
          <a:xfrm>
            <a:off x="8130778" y="2758349"/>
            <a:ext cx="1327878"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8D2C4"/>
                </a:solidFill>
                <a:latin typeface="DM Sans" pitchFamily="34" charset="0"/>
                <a:ea typeface="DM Sans" pitchFamily="34" charset="-122"/>
                <a:cs typeface="DM Sans" pitchFamily="34" charset="-120"/>
              </a:rPr>
              <a:t>What it changes for the reader</a:t>
            </a:r>
            <a:endParaRPr lang="en-US" sz="1400" dirty="0"/>
          </a:p>
        </p:txBody>
      </p:sp>
      <p:sp>
        <p:nvSpPr>
          <p:cNvPr id="24" name="Shape 22"/>
          <p:cNvSpPr/>
          <p:nvPr/>
        </p:nvSpPr>
        <p:spPr>
          <a:xfrm>
            <a:off x="9741231" y="1938604"/>
            <a:ext cx="1634794" cy="1749557"/>
          </a:xfrm>
          <a:prstGeom prst="roundRect">
            <a:avLst>
              <a:gd name="adj" fmla="val 6021"/>
            </a:avLst>
          </a:prstGeom>
          <a:solidFill>
            <a:srgbClr val="FFFDF8"/>
          </a:solidFill>
          <a:ln w="6350">
            <a:solidFill>
              <a:srgbClr val="D9CFBC"/>
            </a:solidFill>
            <a:prstDash val="solid"/>
          </a:ln>
        </p:spPr>
      </p:sp>
      <p:sp>
        <p:nvSpPr>
          <p:cNvPr id="25" name="Text 23"/>
          <p:cNvSpPr/>
          <p:nvPr/>
        </p:nvSpPr>
        <p:spPr>
          <a:xfrm>
            <a:off x="9920089" y="2117465"/>
            <a:ext cx="13278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3A18"/>
                </a:solidFill>
                <a:latin typeface="DM Sans" pitchFamily="34" charset="0"/>
                <a:ea typeface="DM Sans" pitchFamily="34" charset="-122"/>
                <a:cs typeface="DM Sans" pitchFamily="34" charset="-120"/>
              </a:rPr>
              <a:t>Slide 6</a:t>
            </a:r>
            <a:endParaRPr lang="en-US" sz="1200" dirty="0"/>
          </a:p>
        </p:txBody>
      </p:sp>
      <p:sp>
        <p:nvSpPr>
          <p:cNvPr id="26" name="Text 24"/>
          <p:cNvSpPr/>
          <p:nvPr/>
        </p:nvSpPr>
        <p:spPr>
          <a:xfrm>
            <a:off x="9920089" y="2394285"/>
            <a:ext cx="132787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Action</a:t>
            </a:r>
            <a:endParaRPr lang="en-US" sz="2000" dirty="0"/>
          </a:p>
        </p:txBody>
      </p:sp>
      <p:sp>
        <p:nvSpPr>
          <p:cNvPr id="27" name="Text 25"/>
          <p:cNvSpPr/>
          <p:nvPr/>
        </p:nvSpPr>
        <p:spPr>
          <a:xfrm>
            <a:off x="9920089" y="2762585"/>
            <a:ext cx="1327878"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Next step, source and a prompt to save</a:t>
            </a:r>
            <a:endParaRPr lang="en-US" sz="1400" dirty="0"/>
          </a:p>
        </p:txBody>
      </p:sp>
      <p:sp>
        <p:nvSpPr>
          <p:cNvPr id="28" name="Text 26"/>
          <p:cNvSpPr/>
          <p:nvPr/>
        </p:nvSpPr>
        <p:spPr>
          <a:xfrm>
            <a:off x="812800" y="3996134"/>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Add more Finding and Proof slides when the story has several results.</a:t>
            </a:r>
            <a:endParaRPr lang="en-US" sz="1400" dirty="0"/>
          </a:p>
        </p:txBody>
      </p:sp>
      <p:sp>
        <p:nvSpPr>
          <p:cNvPr id="29" name="Text 27"/>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849"/>
                </a:solidFill>
                <a:latin typeface="DM Sans" pitchFamily="34" charset="0"/>
                <a:ea typeface="DM Sans" pitchFamily="34" charset="-122"/>
                <a:cs typeface="DM Sans" pitchFamily="34" charset="-120"/>
              </a:rPr>
              <a:t>From News to Feed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CE5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3A18"/>
                </a:solidFill>
                <a:latin typeface="DM Sans" pitchFamily="34" charset="0"/>
                <a:ea typeface="DM Sans" pitchFamily="34" charset="-122"/>
                <a:cs typeface="DM Sans" pitchFamily="34" charset="-120"/>
              </a:rPr>
              <a:t>FORMAT 3 · CAROUSEL</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F"/>
                </a:solidFill>
                <a:latin typeface="Libre Baskerville" pitchFamily="18" charset="0"/>
                <a:ea typeface="Libre Baskerville" pitchFamily="18" charset="-122"/>
                <a:cs typeface="Libre Baskerville" pitchFamily="18" charset="-120"/>
              </a:rPr>
              <a:t>Design rules for carousels</a:t>
            </a:r>
            <a:endParaRPr lang="en-US" sz="3600" dirty="0"/>
          </a:p>
        </p:txBody>
      </p:sp>
      <p:sp>
        <p:nvSpPr>
          <p:cNvPr id="4" name="Shape 2"/>
          <p:cNvSpPr/>
          <p:nvPr/>
        </p:nvSpPr>
        <p:spPr>
          <a:xfrm>
            <a:off x="815975" y="1938604"/>
            <a:ext cx="5175250" cy="1076523"/>
          </a:xfrm>
          <a:prstGeom prst="roundRect">
            <a:avLst>
              <a:gd name="adj" fmla="val 9143"/>
            </a:avLst>
          </a:prstGeom>
          <a:solidFill>
            <a:srgbClr val="FFFDF8"/>
          </a:solidFill>
          <a:ln w="6350">
            <a:solidFill>
              <a:srgbClr val="D9CFBC"/>
            </a:solidFill>
            <a:prstDash val="solid"/>
          </a:ln>
        </p:spPr>
      </p:sp>
      <p:sp>
        <p:nvSpPr>
          <p:cNvPr id="5" name="Text 3"/>
          <p:cNvSpPr/>
          <p:nvPr/>
        </p:nvSpPr>
        <p:spPr>
          <a:xfrm>
            <a:off x="1045633" y="2168265"/>
            <a:ext cx="5080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3A18"/>
                </a:solidFill>
                <a:latin typeface="Libre Baskerville" pitchFamily="18" charset="0"/>
                <a:ea typeface="Libre Baskerville" pitchFamily="18" charset="-122"/>
                <a:cs typeface="Libre Baskerville" pitchFamily="18" charset="-120"/>
              </a:rPr>
              <a:t>01</a:t>
            </a:r>
            <a:endParaRPr lang="en-US" sz="2000" dirty="0"/>
          </a:p>
        </p:txBody>
      </p:sp>
      <p:sp>
        <p:nvSpPr>
          <p:cNvPr id="6" name="Text 4"/>
          <p:cNvSpPr/>
          <p:nvPr/>
        </p:nvSpPr>
        <p:spPr>
          <a:xfrm>
            <a:off x="1680633" y="2168265"/>
            <a:ext cx="420336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One idea per slide</a:t>
            </a:r>
            <a:endParaRPr lang="en-US" sz="2000" dirty="0"/>
          </a:p>
        </p:txBody>
      </p:sp>
      <p:sp>
        <p:nvSpPr>
          <p:cNvPr id="7" name="Text 5"/>
          <p:cNvSpPr/>
          <p:nvPr/>
        </p:nvSpPr>
        <p:spPr>
          <a:xfrm>
            <a:off x="1680633" y="2536565"/>
            <a:ext cx="4203361"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A reader should grasp each slide in a glance</a:t>
            </a:r>
            <a:endParaRPr lang="en-US" sz="1400" dirty="0"/>
          </a:p>
        </p:txBody>
      </p:sp>
      <p:sp>
        <p:nvSpPr>
          <p:cNvPr id="8" name="Shape 6"/>
          <p:cNvSpPr/>
          <p:nvPr/>
        </p:nvSpPr>
        <p:spPr>
          <a:xfrm>
            <a:off x="6200775" y="1938604"/>
            <a:ext cx="5175250" cy="1076523"/>
          </a:xfrm>
          <a:prstGeom prst="roundRect">
            <a:avLst>
              <a:gd name="adj" fmla="val 9143"/>
            </a:avLst>
          </a:prstGeom>
          <a:solidFill>
            <a:srgbClr val="FFFDF8"/>
          </a:solidFill>
          <a:ln w="6350">
            <a:solidFill>
              <a:srgbClr val="D9CFBC"/>
            </a:solidFill>
            <a:prstDash val="solid"/>
          </a:ln>
        </p:spPr>
      </p:sp>
      <p:sp>
        <p:nvSpPr>
          <p:cNvPr id="9" name="Text 7"/>
          <p:cNvSpPr/>
          <p:nvPr/>
        </p:nvSpPr>
        <p:spPr>
          <a:xfrm>
            <a:off x="6430433" y="2168265"/>
            <a:ext cx="5080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3A18"/>
                </a:solidFill>
                <a:latin typeface="Libre Baskerville" pitchFamily="18" charset="0"/>
                <a:ea typeface="Libre Baskerville" pitchFamily="18" charset="-122"/>
                <a:cs typeface="Libre Baskerville" pitchFamily="18" charset="-120"/>
              </a:rPr>
              <a:t>02</a:t>
            </a:r>
            <a:endParaRPr lang="en-US" sz="2000" dirty="0"/>
          </a:p>
        </p:txBody>
      </p:sp>
      <p:sp>
        <p:nvSpPr>
          <p:cNvPr id="10" name="Text 8"/>
          <p:cNvSpPr/>
          <p:nvPr/>
        </p:nvSpPr>
        <p:spPr>
          <a:xfrm>
            <a:off x="7065434" y="2168265"/>
            <a:ext cx="420336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Large type</a:t>
            </a:r>
            <a:endParaRPr lang="en-US" sz="2000" dirty="0"/>
          </a:p>
        </p:txBody>
      </p:sp>
      <p:sp>
        <p:nvSpPr>
          <p:cNvPr id="11" name="Text 9"/>
          <p:cNvSpPr/>
          <p:nvPr/>
        </p:nvSpPr>
        <p:spPr>
          <a:xfrm>
            <a:off x="7065434" y="2536565"/>
            <a:ext cx="4203361"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Readable on a phone without zooming</a:t>
            </a:r>
            <a:endParaRPr lang="en-US" sz="1400" dirty="0"/>
          </a:p>
        </p:txBody>
      </p:sp>
      <p:sp>
        <p:nvSpPr>
          <p:cNvPr id="12" name="Shape 10"/>
          <p:cNvSpPr/>
          <p:nvPr/>
        </p:nvSpPr>
        <p:spPr>
          <a:xfrm>
            <a:off x="815975" y="3224678"/>
            <a:ext cx="5175250" cy="1325430"/>
          </a:xfrm>
          <a:prstGeom prst="roundRect">
            <a:avLst>
              <a:gd name="adj" fmla="val 7426"/>
            </a:avLst>
          </a:prstGeom>
          <a:solidFill>
            <a:srgbClr val="FFFDF8"/>
          </a:solidFill>
          <a:ln w="6350">
            <a:solidFill>
              <a:srgbClr val="D9CFBC"/>
            </a:solidFill>
            <a:prstDash val="solid"/>
          </a:ln>
        </p:spPr>
      </p:sp>
      <p:sp>
        <p:nvSpPr>
          <p:cNvPr id="13" name="Text 11"/>
          <p:cNvSpPr/>
          <p:nvPr/>
        </p:nvSpPr>
        <p:spPr>
          <a:xfrm>
            <a:off x="1045633" y="3454338"/>
            <a:ext cx="5080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3A18"/>
                </a:solidFill>
                <a:latin typeface="Libre Baskerville" pitchFamily="18" charset="0"/>
                <a:ea typeface="Libre Baskerville" pitchFamily="18" charset="-122"/>
                <a:cs typeface="Libre Baskerville" pitchFamily="18" charset="-120"/>
              </a:rPr>
              <a:t>03</a:t>
            </a:r>
            <a:endParaRPr lang="en-US" sz="2000" dirty="0"/>
          </a:p>
        </p:txBody>
      </p:sp>
      <p:sp>
        <p:nvSpPr>
          <p:cNvPr id="14" name="Text 12"/>
          <p:cNvSpPr/>
          <p:nvPr/>
        </p:nvSpPr>
        <p:spPr>
          <a:xfrm>
            <a:off x="1680633" y="3454338"/>
            <a:ext cx="420336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A consistent frame</a:t>
            </a:r>
            <a:endParaRPr lang="en-US" sz="2000" dirty="0"/>
          </a:p>
        </p:txBody>
      </p:sp>
      <p:sp>
        <p:nvSpPr>
          <p:cNvPr id="15" name="Text 13"/>
          <p:cNvSpPr/>
          <p:nvPr/>
        </p:nvSpPr>
        <p:spPr>
          <a:xfrm>
            <a:off x="1680633" y="3822638"/>
            <a:ext cx="4203361"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Same margins, colours and title position on every slide</a:t>
            </a:r>
            <a:endParaRPr lang="en-US" sz="1400" dirty="0"/>
          </a:p>
        </p:txBody>
      </p:sp>
      <p:sp>
        <p:nvSpPr>
          <p:cNvPr id="16" name="Shape 14"/>
          <p:cNvSpPr/>
          <p:nvPr/>
        </p:nvSpPr>
        <p:spPr>
          <a:xfrm>
            <a:off x="6200775" y="3224678"/>
            <a:ext cx="5175250" cy="1325430"/>
          </a:xfrm>
          <a:prstGeom prst="roundRect">
            <a:avLst>
              <a:gd name="adj" fmla="val 7426"/>
            </a:avLst>
          </a:prstGeom>
          <a:solidFill>
            <a:srgbClr val="FFFDF8"/>
          </a:solidFill>
          <a:ln w="6350">
            <a:solidFill>
              <a:srgbClr val="D9CFBC"/>
            </a:solidFill>
            <a:prstDash val="solid"/>
          </a:ln>
        </p:spPr>
      </p:sp>
      <p:sp>
        <p:nvSpPr>
          <p:cNvPr id="17" name="Text 15"/>
          <p:cNvSpPr/>
          <p:nvPr/>
        </p:nvSpPr>
        <p:spPr>
          <a:xfrm>
            <a:off x="6430433" y="3454338"/>
            <a:ext cx="5080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3A18"/>
                </a:solidFill>
                <a:latin typeface="Libre Baskerville" pitchFamily="18" charset="0"/>
                <a:ea typeface="Libre Baskerville" pitchFamily="18" charset="-122"/>
                <a:cs typeface="Libre Baskerville" pitchFamily="18" charset="-120"/>
              </a:rPr>
              <a:t>04</a:t>
            </a:r>
            <a:endParaRPr lang="en-US" sz="2000" dirty="0"/>
          </a:p>
        </p:txBody>
      </p:sp>
      <p:sp>
        <p:nvSpPr>
          <p:cNvPr id="18" name="Text 16"/>
          <p:cNvSpPr/>
          <p:nvPr/>
        </p:nvSpPr>
        <p:spPr>
          <a:xfrm>
            <a:off x="7065434" y="3454338"/>
            <a:ext cx="420336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A reason to swipe</a:t>
            </a:r>
            <a:endParaRPr lang="en-US" sz="2000" dirty="0"/>
          </a:p>
        </p:txBody>
      </p:sp>
      <p:sp>
        <p:nvSpPr>
          <p:cNvPr id="19" name="Text 17"/>
          <p:cNvSpPr/>
          <p:nvPr/>
        </p:nvSpPr>
        <p:spPr>
          <a:xfrm>
            <a:off x="7065434" y="3822638"/>
            <a:ext cx="4203361"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An arrow, a slide number or an unfinished thought</a:t>
            </a:r>
            <a:endParaRPr lang="en-US" sz="1400" dirty="0"/>
          </a:p>
        </p:txBody>
      </p:sp>
      <p:sp>
        <p:nvSpPr>
          <p:cNvPr id="20" name="Text 18"/>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849"/>
                </a:solidFill>
                <a:latin typeface="DM Sans" pitchFamily="34" charset="0"/>
                <a:ea typeface="DM Sans" pitchFamily="34" charset="-122"/>
                <a:cs typeface="DM Sans" pitchFamily="34" charset="-120"/>
              </a:rPr>
              <a:t>From News to Feed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CE5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3A18"/>
                </a:solidFill>
                <a:latin typeface="DM Sans" pitchFamily="34" charset="0"/>
                <a:ea typeface="DM Sans" pitchFamily="34" charset="-122"/>
                <a:cs typeface="DM Sans" pitchFamily="34" charset="-120"/>
              </a:rPr>
              <a:t>FORMAT 4 · REEL SCRIPT</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F"/>
                </a:solidFill>
                <a:latin typeface="Libre Baskerville" pitchFamily="18" charset="0"/>
                <a:ea typeface="Libre Baskerville" pitchFamily="18" charset="-122"/>
                <a:cs typeface="Libre Baskerville" pitchFamily="18" charset="-120"/>
              </a:rPr>
              <a:t>Structure of a reel script</a:t>
            </a:r>
            <a:endParaRPr lang="en-US" sz="3600" dirty="0"/>
          </a:p>
        </p:txBody>
      </p:sp>
      <p:sp>
        <p:nvSpPr>
          <p:cNvPr id="4" name="Shape 2"/>
          <p:cNvSpPr/>
          <p:nvPr/>
        </p:nvSpPr>
        <p:spPr>
          <a:xfrm>
            <a:off x="812800" y="1935429"/>
            <a:ext cx="694267" cy="127000"/>
          </a:xfrm>
          <a:prstGeom prst="roundRect">
            <a:avLst>
              <a:gd name="adj" fmla="val 20000"/>
            </a:avLst>
          </a:prstGeom>
          <a:solidFill>
            <a:srgbClr val="A93A18"/>
          </a:solidFill>
          <a:ln/>
        </p:spPr>
      </p:sp>
      <p:sp>
        <p:nvSpPr>
          <p:cNvPr id="5" name="Shape 3"/>
          <p:cNvSpPr/>
          <p:nvPr/>
        </p:nvSpPr>
        <p:spPr>
          <a:xfrm>
            <a:off x="1557867" y="1935429"/>
            <a:ext cx="1619978" cy="127000"/>
          </a:xfrm>
          <a:prstGeom prst="roundRect">
            <a:avLst>
              <a:gd name="adj" fmla="val 20000"/>
            </a:avLst>
          </a:prstGeom>
          <a:solidFill>
            <a:srgbClr val="14181F"/>
          </a:solidFill>
          <a:ln/>
        </p:spPr>
      </p:sp>
      <p:sp>
        <p:nvSpPr>
          <p:cNvPr id="6" name="Shape 4"/>
          <p:cNvSpPr/>
          <p:nvPr/>
        </p:nvSpPr>
        <p:spPr>
          <a:xfrm>
            <a:off x="3228644" y="1935429"/>
            <a:ext cx="5785512" cy="127000"/>
          </a:xfrm>
          <a:prstGeom prst="roundRect">
            <a:avLst>
              <a:gd name="adj" fmla="val 20000"/>
            </a:avLst>
          </a:prstGeom>
          <a:solidFill>
            <a:srgbClr val="1F5FBF"/>
          </a:solidFill>
          <a:ln/>
        </p:spPr>
      </p:sp>
      <p:sp>
        <p:nvSpPr>
          <p:cNvPr id="7" name="Shape 5"/>
          <p:cNvSpPr/>
          <p:nvPr/>
        </p:nvSpPr>
        <p:spPr>
          <a:xfrm>
            <a:off x="9064956" y="1935429"/>
            <a:ext cx="2314244" cy="127000"/>
          </a:xfrm>
          <a:prstGeom prst="roundRect">
            <a:avLst>
              <a:gd name="adj" fmla="val 20000"/>
            </a:avLst>
          </a:prstGeom>
          <a:solidFill>
            <a:srgbClr val="6B6558"/>
          </a:solidFill>
          <a:ln/>
        </p:spPr>
      </p:sp>
      <p:sp>
        <p:nvSpPr>
          <p:cNvPr id="8" name="Text 6"/>
          <p:cNvSpPr/>
          <p:nvPr/>
        </p:nvSpPr>
        <p:spPr>
          <a:xfrm>
            <a:off x="812800" y="213862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849"/>
                </a:solidFill>
                <a:latin typeface="DM Sans" pitchFamily="34" charset="0"/>
                <a:ea typeface="DM Sans" pitchFamily="34" charset="-122"/>
                <a:cs typeface="DM Sans" pitchFamily="34" charset="-120"/>
              </a:rPr>
              <a:t>Share of a 45-second reel given to each part: hook, context, three beats, payoff</a:t>
            </a:r>
            <a:endParaRPr lang="en-US" sz="1200" dirty="0"/>
          </a:p>
        </p:txBody>
      </p:sp>
      <p:sp>
        <p:nvSpPr>
          <p:cNvPr id="9" name="Shape 7"/>
          <p:cNvSpPr/>
          <p:nvPr/>
        </p:nvSpPr>
        <p:spPr>
          <a:xfrm>
            <a:off x="815975" y="2659924"/>
            <a:ext cx="2482850" cy="1851157"/>
          </a:xfrm>
          <a:prstGeom prst="roundRect">
            <a:avLst>
              <a:gd name="adj" fmla="val 5317"/>
            </a:avLst>
          </a:prstGeom>
          <a:solidFill>
            <a:srgbClr val="FFFDF8"/>
          </a:solidFill>
          <a:ln w="6350">
            <a:solidFill>
              <a:srgbClr val="D9CFBC"/>
            </a:solidFill>
            <a:prstDash val="solid"/>
          </a:ln>
        </p:spPr>
      </p:sp>
      <p:sp>
        <p:nvSpPr>
          <p:cNvPr id="10" name="Text 8"/>
          <p:cNvSpPr/>
          <p:nvPr/>
        </p:nvSpPr>
        <p:spPr>
          <a:xfrm>
            <a:off x="1045633" y="2889585"/>
            <a:ext cx="208423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3A18"/>
                </a:solidFill>
                <a:latin typeface="DM Sans" pitchFamily="34" charset="0"/>
                <a:ea typeface="DM Sans" pitchFamily="34" charset="-122"/>
                <a:cs typeface="DM Sans" pitchFamily="34" charset="-120"/>
              </a:rPr>
              <a:t>0 to 3 seconds</a:t>
            </a:r>
            <a:endParaRPr lang="en-US" sz="1200" dirty="0"/>
          </a:p>
        </p:txBody>
      </p:sp>
      <p:sp>
        <p:nvSpPr>
          <p:cNvPr id="11" name="Text 9"/>
          <p:cNvSpPr/>
          <p:nvPr/>
        </p:nvSpPr>
        <p:spPr>
          <a:xfrm>
            <a:off x="1045633" y="3166405"/>
            <a:ext cx="208423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Hook</a:t>
            </a:r>
            <a:endParaRPr lang="en-US" sz="2000" dirty="0"/>
          </a:p>
        </p:txBody>
      </p:sp>
      <p:sp>
        <p:nvSpPr>
          <p:cNvPr id="12" name="Text 10"/>
          <p:cNvSpPr/>
          <p:nvPr/>
        </p:nvSpPr>
        <p:spPr>
          <a:xfrm>
            <a:off x="1045633" y="3534705"/>
            <a:ext cx="2084239"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Say or show the most surprising part first</a:t>
            </a:r>
            <a:endParaRPr lang="en-US" sz="1400" dirty="0"/>
          </a:p>
        </p:txBody>
      </p:sp>
      <p:sp>
        <p:nvSpPr>
          <p:cNvPr id="13" name="Shape 11"/>
          <p:cNvSpPr/>
          <p:nvPr/>
        </p:nvSpPr>
        <p:spPr>
          <a:xfrm>
            <a:off x="3508375" y="2659924"/>
            <a:ext cx="2482850" cy="1851157"/>
          </a:xfrm>
          <a:prstGeom prst="roundRect">
            <a:avLst>
              <a:gd name="adj" fmla="val 5317"/>
            </a:avLst>
          </a:prstGeom>
          <a:solidFill>
            <a:srgbClr val="FFFDF8"/>
          </a:solidFill>
          <a:ln w="6350">
            <a:solidFill>
              <a:srgbClr val="D9CFBC"/>
            </a:solidFill>
            <a:prstDash val="solid"/>
          </a:ln>
        </p:spPr>
      </p:sp>
      <p:sp>
        <p:nvSpPr>
          <p:cNvPr id="14" name="Text 12"/>
          <p:cNvSpPr/>
          <p:nvPr/>
        </p:nvSpPr>
        <p:spPr>
          <a:xfrm>
            <a:off x="3738033" y="2889585"/>
            <a:ext cx="208423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181F"/>
                </a:solidFill>
                <a:latin typeface="DM Sans" pitchFamily="34" charset="0"/>
                <a:ea typeface="DM Sans" pitchFamily="34" charset="-122"/>
                <a:cs typeface="DM Sans" pitchFamily="34" charset="-120"/>
              </a:rPr>
              <a:t>3 to 10 seconds</a:t>
            </a:r>
            <a:endParaRPr lang="en-US" sz="1200" dirty="0"/>
          </a:p>
        </p:txBody>
      </p:sp>
      <p:sp>
        <p:nvSpPr>
          <p:cNvPr id="15" name="Text 13"/>
          <p:cNvSpPr/>
          <p:nvPr/>
        </p:nvSpPr>
        <p:spPr>
          <a:xfrm>
            <a:off x="3738033" y="3166405"/>
            <a:ext cx="208423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Context</a:t>
            </a:r>
            <a:endParaRPr lang="en-US" sz="2000" dirty="0"/>
          </a:p>
        </p:txBody>
      </p:sp>
      <p:sp>
        <p:nvSpPr>
          <p:cNvPr id="16" name="Text 14"/>
          <p:cNvSpPr/>
          <p:nvPr/>
        </p:nvSpPr>
        <p:spPr>
          <a:xfrm>
            <a:off x="3738033" y="3534705"/>
            <a:ext cx="2084239"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Name the source and why it matters now</a:t>
            </a:r>
            <a:endParaRPr lang="en-US" sz="1400" dirty="0"/>
          </a:p>
        </p:txBody>
      </p:sp>
      <p:sp>
        <p:nvSpPr>
          <p:cNvPr id="17" name="Shape 15"/>
          <p:cNvSpPr/>
          <p:nvPr/>
        </p:nvSpPr>
        <p:spPr>
          <a:xfrm>
            <a:off x="6200775" y="2659924"/>
            <a:ext cx="2482850" cy="1851157"/>
          </a:xfrm>
          <a:prstGeom prst="roundRect">
            <a:avLst>
              <a:gd name="adj" fmla="val 5317"/>
            </a:avLst>
          </a:prstGeom>
          <a:solidFill>
            <a:srgbClr val="FFFDF8"/>
          </a:solidFill>
          <a:ln w="6350">
            <a:solidFill>
              <a:srgbClr val="D9CFBC"/>
            </a:solidFill>
            <a:prstDash val="solid"/>
          </a:ln>
        </p:spPr>
      </p:sp>
      <p:sp>
        <p:nvSpPr>
          <p:cNvPr id="18" name="Text 16"/>
          <p:cNvSpPr/>
          <p:nvPr/>
        </p:nvSpPr>
        <p:spPr>
          <a:xfrm>
            <a:off x="6430433" y="2889585"/>
            <a:ext cx="208423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5FBF"/>
                </a:solidFill>
                <a:latin typeface="DM Sans" pitchFamily="34" charset="0"/>
                <a:ea typeface="DM Sans" pitchFamily="34" charset="-122"/>
                <a:cs typeface="DM Sans" pitchFamily="34" charset="-120"/>
              </a:rPr>
              <a:t>10 to 35 seconds</a:t>
            </a:r>
            <a:endParaRPr lang="en-US" sz="1200" dirty="0"/>
          </a:p>
        </p:txBody>
      </p:sp>
      <p:sp>
        <p:nvSpPr>
          <p:cNvPr id="19" name="Text 17"/>
          <p:cNvSpPr/>
          <p:nvPr/>
        </p:nvSpPr>
        <p:spPr>
          <a:xfrm>
            <a:off x="6430433" y="3166405"/>
            <a:ext cx="208423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Three beats</a:t>
            </a:r>
            <a:endParaRPr lang="en-US" sz="2000" dirty="0"/>
          </a:p>
        </p:txBody>
      </p:sp>
      <p:sp>
        <p:nvSpPr>
          <p:cNvPr id="20" name="Text 18"/>
          <p:cNvSpPr/>
          <p:nvPr/>
        </p:nvSpPr>
        <p:spPr>
          <a:xfrm>
            <a:off x="6430433" y="3534705"/>
            <a:ext cx="2084239"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One point per beat, each with a visual change</a:t>
            </a:r>
            <a:endParaRPr lang="en-US" sz="1400" dirty="0"/>
          </a:p>
        </p:txBody>
      </p:sp>
      <p:sp>
        <p:nvSpPr>
          <p:cNvPr id="21" name="Shape 19"/>
          <p:cNvSpPr/>
          <p:nvPr/>
        </p:nvSpPr>
        <p:spPr>
          <a:xfrm>
            <a:off x="8893175" y="2659924"/>
            <a:ext cx="2482850" cy="1851157"/>
          </a:xfrm>
          <a:prstGeom prst="roundRect">
            <a:avLst>
              <a:gd name="adj" fmla="val 5317"/>
            </a:avLst>
          </a:prstGeom>
          <a:solidFill>
            <a:srgbClr val="FFFDF8"/>
          </a:solidFill>
          <a:ln w="6350">
            <a:solidFill>
              <a:srgbClr val="D9CFBC"/>
            </a:solidFill>
            <a:prstDash val="solid"/>
          </a:ln>
        </p:spPr>
      </p:sp>
      <p:sp>
        <p:nvSpPr>
          <p:cNvPr id="22" name="Text 20"/>
          <p:cNvSpPr/>
          <p:nvPr/>
        </p:nvSpPr>
        <p:spPr>
          <a:xfrm>
            <a:off x="9122834" y="2889585"/>
            <a:ext cx="208423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E5849"/>
                </a:solidFill>
                <a:latin typeface="DM Sans" pitchFamily="34" charset="0"/>
                <a:ea typeface="DM Sans" pitchFamily="34" charset="-122"/>
                <a:cs typeface="DM Sans" pitchFamily="34" charset="-120"/>
              </a:rPr>
              <a:t>35 to 45 seconds</a:t>
            </a:r>
            <a:endParaRPr lang="en-US" sz="1200" dirty="0"/>
          </a:p>
        </p:txBody>
      </p:sp>
      <p:sp>
        <p:nvSpPr>
          <p:cNvPr id="23" name="Text 21"/>
          <p:cNvSpPr/>
          <p:nvPr/>
        </p:nvSpPr>
        <p:spPr>
          <a:xfrm>
            <a:off x="9122834" y="3166405"/>
            <a:ext cx="208423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Payoff</a:t>
            </a:r>
            <a:endParaRPr lang="en-US" sz="2000" dirty="0"/>
          </a:p>
        </p:txBody>
      </p:sp>
      <p:sp>
        <p:nvSpPr>
          <p:cNvPr id="24" name="Text 22"/>
          <p:cNvSpPr/>
          <p:nvPr/>
        </p:nvSpPr>
        <p:spPr>
          <a:xfrm>
            <a:off x="9122834" y="3534705"/>
            <a:ext cx="2084239"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The takeaway, then one clear ask</a:t>
            </a:r>
            <a:endParaRPr lang="en-US" sz="1400" dirty="0"/>
          </a:p>
        </p:txBody>
      </p:sp>
      <p:sp>
        <p:nvSpPr>
          <p:cNvPr id="25" name="Text 23"/>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849"/>
                </a:solidFill>
                <a:latin typeface="DM Sans" pitchFamily="34" charset="0"/>
                <a:ea typeface="DM Sans" pitchFamily="34" charset="-122"/>
                <a:cs typeface="DM Sans" pitchFamily="34" charset="-120"/>
              </a:rPr>
              <a:t>From News to Feed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CE5D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3A18"/>
                </a:solidFill>
                <a:latin typeface="DM Sans" pitchFamily="34" charset="0"/>
                <a:ea typeface="DM Sans" pitchFamily="34" charset="-122"/>
                <a:cs typeface="DM Sans" pitchFamily="34" charset="-120"/>
              </a:rPr>
              <a:t>FORMAT 4 · REEL SCRIPT</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F"/>
                </a:solidFill>
                <a:latin typeface="Libre Baskerville" pitchFamily="18" charset="0"/>
                <a:ea typeface="Libre Baskerville" pitchFamily="18" charset="-122"/>
                <a:cs typeface="Libre Baskerville" pitchFamily="18" charset="-120"/>
              </a:rPr>
              <a:t>A two-column script template</a:t>
            </a:r>
            <a:endParaRPr lang="en-US" sz="3600" dirty="0"/>
          </a:p>
        </p:txBody>
      </p:sp>
      <p:sp>
        <p:nvSpPr>
          <p:cNvPr id="4" name="Shape 2"/>
          <p:cNvSpPr/>
          <p:nvPr/>
        </p:nvSpPr>
        <p:spPr>
          <a:xfrm>
            <a:off x="812800" y="1935435"/>
            <a:ext cx="10566400" cy="1946738"/>
          </a:xfrm>
          <a:prstGeom prst="rect">
            <a:avLst/>
          </a:prstGeom>
          <a:solidFill>
            <a:srgbClr val="FFFDF8"/>
          </a:solidFill>
          <a:ln/>
        </p:spPr>
      </p:sp>
      <p:sp>
        <p:nvSpPr>
          <p:cNvPr id="5" name="Shape 3"/>
          <p:cNvSpPr/>
          <p:nvPr/>
        </p:nvSpPr>
        <p:spPr>
          <a:xfrm>
            <a:off x="11376025" y="1935435"/>
            <a:ext cx="0" cy="1946738"/>
          </a:xfrm>
          <a:prstGeom prst="line">
            <a:avLst/>
          </a:prstGeom>
          <a:noFill/>
          <a:ln w="6350">
            <a:solidFill>
              <a:srgbClr val="D9CFBC"/>
            </a:solidFill>
            <a:prstDash val="solid"/>
          </a:ln>
        </p:spPr>
      </p:sp>
      <p:sp>
        <p:nvSpPr>
          <p:cNvPr id="6" name="Shape 4"/>
          <p:cNvSpPr/>
          <p:nvPr/>
        </p:nvSpPr>
        <p:spPr>
          <a:xfrm>
            <a:off x="812800" y="3878999"/>
            <a:ext cx="10566400" cy="0"/>
          </a:xfrm>
          <a:prstGeom prst="line">
            <a:avLst/>
          </a:prstGeom>
          <a:noFill/>
          <a:ln w="6350">
            <a:solidFill>
              <a:srgbClr val="D9CFBC"/>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948135"/>
          <a:ext cx="10549467" cy="1929805"/>
        </p:xfrm>
        <a:graphic>
          <a:graphicData uri="http://schemas.openxmlformats.org/drawingml/2006/table">
            <a:tbl>
              <a:tblPr/>
              <a:tblGrid>
                <a:gridCol w="1476925"/>
                <a:gridCol w="4008797"/>
                <a:gridCol w="5063744"/>
              </a:tblGrid>
              <a:tr h="385961">
                <a:tc>
                  <a:txBody>
                    <a:bodyPr/>
                    <a:lstStyle/>
                    <a:p>
                      <a:pPr indent="0" marL="0">
                        <a:lnSpc>
                          <a:spcPts val="1960"/>
                        </a:lnSpc>
                        <a:buNone/>
                      </a:pPr>
                      <a:r>
                        <a:rPr lang="en-US" sz="1400" b="1" dirty="0">
                          <a:solidFill>
                            <a:srgbClr val="F6F2EA"/>
                          </a:solidFill>
                          <a:latin typeface="DM Sans" pitchFamily="34" charset="0"/>
                          <a:ea typeface="DM Sans" pitchFamily="34" charset="-122"/>
                          <a:cs typeface="DM Sans" pitchFamily="34" charset="-120"/>
                        </a:rPr>
                        <a:t>Time</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14171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71C"/>
                      </a:solidFill>
                      <a:prstDash val="solid"/>
                      <a:round/>
                      <a:headEnd type="none" w="med" len="med"/>
                      <a:tailEnd type="none" w="med" len="med"/>
                    </a:lnB>
                    <a:solidFill>
                      <a:srgbClr val="14181F"/>
                    </a:solidFill>
                  </a:tcPr>
                </a:tc>
                <a:tc>
                  <a:txBody>
                    <a:bodyPr/>
                    <a:lstStyle/>
                    <a:p>
                      <a:pPr indent="0" marL="0">
                        <a:lnSpc>
                          <a:spcPts val="1960"/>
                        </a:lnSpc>
                        <a:buNone/>
                      </a:pPr>
                      <a:r>
                        <a:rPr lang="en-US" sz="1400" b="1" dirty="0">
                          <a:solidFill>
                            <a:srgbClr val="F6F2EA"/>
                          </a:solidFill>
                          <a:latin typeface="DM Sans" pitchFamily="34" charset="0"/>
                          <a:ea typeface="DM Sans" pitchFamily="34" charset="-122"/>
                          <a:cs typeface="DM Sans" pitchFamily="34" charset="-120"/>
                        </a:rPr>
                        <a:t>On screen</a:t>
                      </a:r>
                      <a:endParaRPr lang="en-US" sz="1400" dirty="0">
                        <a:latin typeface="DM Sans" charset="0"/>
                        <a:ea typeface="DM Sans" charset="0"/>
                        <a:cs typeface="DM Sans" charset="0"/>
                      </a:endParaRPr>
                    </a:p>
                  </a:txBody>
                  <a:tcPr marL="62230" marR="62230" marT="62230" marB="62230" anchor="t">
                    <a:lnL w="12700" cap="flat" cmpd="sng" algn="ctr">
                      <a:solidFill>
                        <a:srgbClr val="14171C"/>
                      </a:solidFill>
                      <a:prstDash val="solid"/>
                      <a:round/>
                      <a:headEnd type="none" w="med" len="med"/>
                      <a:tailEnd type="none" w="med" len="med"/>
                    </a:lnL>
                    <a:lnR w="12700" cap="flat" cmpd="sng" algn="ctr">
                      <a:solidFill>
                        <a:srgbClr val="14171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71C"/>
                      </a:solidFill>
                      <a:prstDash val="solid"/>
                      <a:round/>
                      <a:headEnd type="none" w="med" len="med"/>
                      <a:tailEnd type="none" w="med" len="med"/>
                    </a:lnB>
                    <a:solidFill>
                      <a:srgbClr val="14181F"/>
                    </a:solidFill>
                  </a:tcPr>
                </a:tc>
                <a:tc>
                  <a:txBody>
                    <a:bodyPr/>
                    <a:lstStyle/>
                    <a:p>
                      <a:pPr indent="0" marL="0">
                        <a:lnSpc>
                          <a:spcPts val="1960"/>
                        </a:lnSpc>
                        <a:buNone/>
                      </a:pPr>
                      <a:r>
                        <a:rPr lang="en-US" sz="1400" b="1" dirty="0">
                          <a:solidFill>
                            <a:srgbClr val="F6F2EA"/>
                          </a:solidFill>
                          <a:latin typeface="DM Sans" pitchFamily="34" charset="0"/>
                          <a:ea typeface="DM Sans" pitchFamily="34" charset="-122"/>
                          <a:cs typeface="DM Sans" pitchFamily="34" charset="-120"/>
                        </a:rPr>
                        <a:t>Voiceover</a:t>
                      </a:r>
                      <a:endParaRPr lang="en-US" sz="1400" dirty="0">
                        <a:latin typeface="DM Sans" charset="0"/>
                        <a:ea typeface="DM Sans" charset="0"/>
                        <a:cs typeface="DM Sans" charset="0"/>
                      </a:endParaRPr>
                    </a:p>
                  </a:txBody>
                  <a:tcPr marL="62230" marR="62230" marT="62230" marB="62230" anchor="t">
                    <a:lnL w="12700" cap="flat" cmpd="sng" algn="ctr">
                      <a:solidFill>
                        <a:srgbClr val="14171C"/>
                      </a:solidFill>
                      <a:prstDash val="solid"/>
                      <a:round/>
                      <a:headEnd type="none" w="med" len="med"/>
                      <a:tailEnd type="none" w="med" len="med"/>
                    </a:lnL>
                    <a:lnR w="12700" cap="flat" cmpd="sng" algn="ctr">
                      <a:solidFill>
                        <a:srgbClr val="14171C"/>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71C"/>
                      </a:solidFill>
                      <a:prstDash val="solid"/>
                      <a:round/>
                      <a:headEnd type="none" w="med" len="med"/>
                      <a:tailEnd type="none" w="med" len="med"/>
                    </a:lnB>
                    <a:solidFill>
                      <a:srgbClr val="14181F"/>
                    </a:solidFill>
                  </a:tcPr>
                </a:tc>
              </a:tr>
              <a:tr h="385961">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0 to 3s</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71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Presenter close-up, headline as text</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71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"[The surprising finding in one sentence]."</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71C"/>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3 to 10s</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Title card naming the source</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"[Who] looked at [what] and found [result]."</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10 to 35s</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Three cutaways, one caption each</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"First, [point]. Second, [point]. Third, [point]."</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35 to 45s</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Presenter, source shown in caption</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960"/>
                        </a:lnSpc>
                        <a:buNone/>
                      </a:pPr>
                      <a:r>
                        <a:rPr lang="en-US" sz="1400" dirty="0">
                          <a:solidFill>
                            <a:srgbClr val="14181F"/>
                          </a:solidFill>
                          <a:latin typeface="DM Sans" pitchFamily="34" charset="0"/>
                          <a:ea typeface="DM Sans" pitchFamily="34" charset="-122"/>
                          <a:cs typeface="DM Sans" pitchFamily="34" charset="-120"/>
                        </a:rPr>
                        <a:t>"So [takeaway]. The source is in the caption."</a:t>
                      </a:r>
                      <a:endParaRPr lang="en-US" sz="1400" dirty="0">
                        <a:latin typeface="DM Sans" charset="0"/>
                        <a:ea typeface="DM Sans" charset="0"/>
                        <a:cs typeface="DM Sans" charset="0"/>
                      </a:endParaRPr>
                    </a:p>
                  </a:txBody>
                  <a:tcPr marL="62230" marR="62230" marT="62230" marB="6223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8" name="Text 5"/>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849"/>
                </a:solidFill>
                <a:latin typeface="DM Sans" pitchFamily="34" charset="0"/>
                <a:ea typeface="DM Sans" pitchFamily="34" charset="-122"/>
                <a:cs typeface="DM Sans" pitchFamily="34" charset="-120"/>
              </a:rPr>
              <a:t>From News to Feed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3A18"/>
                </a:solidFill>
                <a:latin typeface="DM Sans" pitchFamily="34" charset="0"/>
                <a:ea typeface="DM Sans" pitchFamily="34" charset="-122"/>
                <a:cs typeface="DM Sans" pitchFamily="34" charset="-120"/>
              </a:rPr>
              <a:t>WORKED EXAMPLE</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F"/>
                </a:solidFill>
                <a:latin typeface="Libre Baskerville" pitchFamily="18" charset="0"/>
                <a:ea typeface="Libre Baskerville" pitchFamily="18" charset="-122"/>
                <a:cs typeface="Libre Baskerville" pitchFamily="18" charset="-120"/>
              </a:rPr>
              <a:t>One study, four outputs</a:t>
            </a:r>
            <a:endParaRPr lang="en-US" sz="3600" dirty="0"/>
          </a:p>
        </p:txBody>
      </p:sp>
      <p:sp>
        <p:nvSpPr>
          <p:cNvPr id="4" name="Shape 2"/>
          <p:cNvSpPr/>
          <p:nvPr/>
        </p:nvSpPr>
        <p:spPr>
          <a:xfrm>
            <a:off x="812800" y="1935435"/>
            <a:ext cx="3302000" cy="2455333"/>
          </a:xfrm>
          <a:prstGeom prst="roundRect">
            <a:avLst>
              <a:gd name="adj" fmla="val 4138"/>
            </a:avLst>
          </a:prstGeom>
          <a:solidFill>
            <a:srgbClr val="14181F"/>
          </a:solidFill>
          <a:ln/>
        </p:spPr>
      </p:sp>
      <p:sp>
        <p:nvSpPr>
          <p:cNvPr id="5" name="Text 3"/>
          <p:cNvSpPr/>
          <p:nvPr/>
        </p:nvSpPr>
        <p:spPr>
          <a:xfrm>
            <a:off x="1066800" y="2189435"/>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A5C"/>
                </a:solidFill>
                <a:latin typeface="DM Sans" pitchFamily="34" charset="0"/>
                <a:ea typeface="DM Sans" pitchFamily="34" charset="-122"/>
                <a:cs typeface="DM Sans" pitchFamily="34" charset="-120"/>
              </a:rPr>
              <a:t>THE SOURCE</a:t>
            </a:r>
            <a:endParaRPr lang="en-US" sz="1200" dirty="0"/>
          </a:p>
        </p:txBody>
      </p:sp>
      <p:sp>
        <p:nvSpPr>
          <p:cNvPr id="6" name="Text 4"/>
          <p:cNvSpPr/>
          <p:nvPr/>
        </p:nvSpPr>
        <p:spPr>
          <a:xfrm>
            <a:off x="1066800" y="2529756"/>
            <a:ext cx="287782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2EA"/>
                </a:solidFill>
                <a:latin typeface="DM Sans" pitchFamily="34" charset="0"/>
                <a:ea typeface="DM Sans" pitchFamily="34" charset="-122"/>
                <a:cs typeface="DM Sans" pitchFamily="34" charset="-120"/>
              </a:rPr>
              <a:t>[Study title]</a:t>
            </a:r>
            <a:endParaRPr lang="en-US" sz="2000" dirty="0"/>
          </a:p>
        </p:txBody>
      </p:sp>
      <p:sp>
        <p:nvSpPr>
          <p:cNvPr id="7" name="Text 5"/>
          <p:cNvSpPr/>
          <p:nvPr/>
        </p:nvSpPr>
        <p:spPr>
          <a:xfrm>
            <a:off x="1066800" y="2961556"/>
            <a:ext cx="287782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8D2C4"/>
                </a:solidFill>
                <a:latin typeface="DM Sans" pitchFamily="34" charset="0"/>
                <a:ea typeface="DM Sans" pitchFamily="34" charset="-122"/>
                <a:cs typeface="DM Sans" pitchFamily="34" charset="-120"/>
              </a:rPr>
              <a:t>[Publisher], [date]</a:t>
            </a:r>
            <a:endParaRPr lang="en-US" sz="1400" dirty="0"/>
          </a:p>
        </p:txBody>
      </p:sp>
      <p:sp>
        <p:nvSpPr>
          <p:cNvPr id="8" name="Text 6"/>
          <p:cNvSpPr/>
          <p:nvPr/>
        </p:nvSpPr>
        <p:spPr>
          <a:xfrm>
            <a:off x="1066800" y="3337458"/>
            <a:ext cx="287782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8D2C4"/>
                </a:solidFill>
                <a:latin typeface="DM Sans" pitchFamily="34" charset="0"/>
                <a:ea typeface="DM Sans" pitchFamily="34" charset="-122"/>
                <a:cs typeface="DM Sans" pitchFamily="34" charset="-120"/>
              </a:rPr>
              <a:t>Key finding: [result with its number]</a:t>
            </a:r>
            <a:endParaRPr lang="en-US" sz="1400" dirty="0"/>
          </a:p>
        </p:txBody>
      </p:sp>
      <p:sp>
        <p:nvSpPr>
          <p:cNvPr id="9" name="Shape 7"/>
          <p:cNvSpPr/>
          <p:nvPr/>
        </p:nvSpPr>
        <p:spPr>
          <a:xfrm>
            <a:off x="4419600" y="1938610"/>
            <a:ext cx="6959600" cy="0"/>
          </a:xfrm>
          <a:prstGeom prst="line">
            <a:avLst/>
          </a:prstGeom>
          <a:noFill/>
          <a:ln w="6350">
            <a:solidFill>
              <a:srgbClr val="C9BEA8"/>
            </a:solidFill>
            <a:prstDash val="solid"/>
          </a:ln>
        </p:spPr>
      </p:sp>
      <p:sp>
        <p:nvSpPr>
          <p:cNvPr id="10" name="Text 8"/>
          <p:cNvSpPr/>
          <p:nvPr/>
        </p:nvSpPr>
        <p:spPr>
          <a:xfrm>
            <a:off x="4419600" y="2066665"/>
            <a:ext cx="157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3A18"/>
                </a:solidFill>
                <a:latin typeface="DM Sans" pitchFamily="34" charset="0"/>
                <a:ea typeface="DM Sans" pitchFamily="34" charset="-122"/>
                <a:cs typeface="DM Sans" pitchFamily="34" charset="-120"/>
              </a:rPr>
              <a:t>Post</a:t>
            </a:r>
            <a:endParaRPr lang="en-US" sz="2000" dirty="0"/>
          </a:p>
        </p:txBody>
      </p:sp>
      <p:sp>
        <p:nvSpPr>
          <p:cNvPr id="11" name="Text 9"/>
          <p:cNvSpPr/>
          <p:nvPr/>
        </p:nvSpPr>
        <p:spPr>
          <a:xfrm>
            <a:off x="6146800" y="2119982"/>
            <a:ext cx="538937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The finding, one line of meaning, the link</a:t>
            </a:r>
            <a:endParaRPr lang="en-US" sz="1400" dirty="0"/>
          </a:p>
        </p:txBody>
      </p:sp>
      <p:sp>
        <p:nvSpPr>
          <p:cNvPr id="12" name="Shape 10"/>
          <p:cNvSpPr/>
          <p:nvPr/>
        </p:nvSpPr>
        <p:spPr>
          <a:xfrm>
            <a:off x="4419600" y="2552440"/>
            <a:ext cx="6959600" cy="0"/>
          </a:xfrm>
          <a:prstGeom prst="line">
            <a:avLst/>
          </a:prstGeom>
          <a:noFill/>
          <a:ln w="6350">
            <a:solidFill>
              <a:srgbClr val="C9BEA8"/>
            </a:solidFill>
            <a:prstDash val="solid"/>
          </a:ln>
        </p:spPr>
      </p:sp>
      <p:sp>
        <p:nvSpPr>
          <p:cNvPr id="13" name="Text 11"/>
          <p:cNvSpPr/>
          <p:nvPr/>
        </p:nvSpPr>
        <p:spPr>
          <a:xfrm>
            <a:off x="4419600" y="2680494"/>
            <a:ext cx="157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3A18"/>
                </a:solidFill>
                <a:latin typeface="DM Sans" pitchFamily="34" charset="0"/>
                <a:ea typeface="DM Sans" pitchFamily="34" charset="-122"/>
                <a:cs typeface="DM Sans" pitchFamily="34" charset="-120"/>
              </a:rPr>
              <a:t>Thread</a:t>
            </a:r>
            <a:endParaRPr lang="en-US" sz="2000" dirty="0"/>
          </a:p>
        </p:txBody>
      </p:sp>
      <p:sp>
        <p:nvSpPr>
          <p:cNvPr id="14" name="Text 12"/>
          <p:cNvSpPr/>
          <p:nvPr/>
        </p:nvSpPr>
        <p:spPr>
          <a:xfrm>
            <a:off x="6146800" y="2733811"/>
            <a:ext cx="538937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Method, three results, limits, the link</a:t>
            </a:r>
            <a:endParaRPr lang="en-US" sz="1400" dirty="0"/>
          </a:p>
        </p:txBody>
      </p:sp>
      <p:sp>
        <p:nvSpPr>
          <p:cNvPr id="15" name="Shape 13"/>
          <p:cNvSpPr/>
          <p:nvPr/>
        </p:nvSpPr>
        <p:spPr>
          <a:xfrm>
            <a:off x="4419600" y="3166269"/>
            <a:ext cx="6959600" cy="0"/>
          </a:xfrm>
          <a:prstGeom prst="line">
            <a:avLst/>
          </a:prstGeom>
          <a:noFill/>
          <a:ln w="6350">
            <a:solidFill>
              <a:srgbClr val="C9BEA8"/>
            </a:solidFill>
            <a:prstDash val="solid"/>
          </a:ln>
        </p:spPr>
      </p:sp>
      <p:sp>
        <p:nvSpPr>
          <p:cNvPr id="16" name="Text 14"/>
          <p:cNvSpPr/>
          <p:nvPr/>
        </p:nvSpPr>
        <p:spPr>
          <a:xfrm>
            <a:off x="4419600" y="3294335"/>
            <a:ext cx="157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3A18"/>
                </a:solidFill>
                <a:latin typeface="DM Sans" pitchFamily="34" charset="0"/>
                <a:ea typeface="DM Sans" pitchFamily="34" charset="-122"/>
                <a:cs typeface="DM Sans" pitchFamily="34" charset="-120"/>
              </a:rPr>
              <a:t>Carousel</a:t>
            </a:r>
            <a:endParaRPr lang="en-US" sz="2000" dirty="0"/>
          </a:p>
        </p:txBody>
      </p:sp>
      <p:sp>
        <p:nvSpPr>
          <p:cNvPr id="17" name="Text 15"/>
          <p:cNvSpPr/>
          <p:nvPr/>
        </p:nvSpPr>
        <p:spPr>
          <a:xfrm>
            <a:off x="6146800" y="3347641"/>
            <a:ext cx="538937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Cover, problem, three results, action</a:t>
            </a:r>
            <a:endParaRPr lang="en-US" sz="1400" dirty="0"/>
          </a:p>
        </p:txBody>
      </p:sp>
      <p:sp>
        <p:nvSpPr>
          <p:cNvPr id="18" name="Shape 16"/>
          <p:cNvSpPr/>
          <p:nvPr/>
        </p:nvSpPr>
        <p:spPr>
          <a:xfrm>
            <a:off x="4419600" y="3780110"/>
            <a:ext cx="6959600" cy="0"/>
          </a:xfrm>
          <a:prstGeom prst="line">
            <a:avLst/>
          </a:prstGeom>
          <a:noFill/>
          <a:ln w="6350">
            <a:solidFill>
              <a:srgbClr val="C9BEA8"/>
            </a:solidFill>
            <a:prstDash val="solid"/>
          </a:ln>
        </p:spPr>
      </p:sp>
      <p:sp>
        <p:nvSpPr>
          <p:cNvPr id="19" name="Text 17"/>
          <p:cNvSpPr/>
          <p:nvPr/>
        </p:nvSpPr>
        <p:spPr>
          <a:xfrm>
            <a:off x="4419600" y="3908165"/>
            <a:ext cx="1574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3A18"/>
                </a:solidFill>
                <a:latin typeface="DM Sans" pitchFamily="34" charset="0"/>
                <a:ea typeface="DM Sans" pitchFamily="34" charset="-122"/>
                <a:cs typeface="DM Sans" pitchFamily="34" charset="-120"/>
              </a:rPr>
              <a:t>Reel</a:t>
            </a:r>
            <a:endParaRPr lang="en-US" sz="2000" dirty="0"/>
          </a:p>
        </p:txBody>
      </p:sp>
      <p:sp>
        <p:nvSpPr>
          <p:cNvPr id="20" name="Text 18"/>
          <p:cNvSpPr/>
          <p:nvPr/>
        </p:nvSpPr>
        <p:spPr>
          <a:xfrm>
            <a:off x="6146800" y="3961482"/>
            <a:ext cx="538937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Hook, who found it, three beats, one ask</a:t>
            </a:r>
            <a:endParaRPr lang="en-US" sz="1400" dirty="0"/>
          </a:p>
        </p:txBody>
      </p:sp>
      <p:sp>
        <p:nvSpPr>
          <p:cNvPr id="21" name="Text 19"/>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849"/>
                </a:solidFill>
                <a:latin typeface="DM Sans" pitchFamily="34" charset="0"/>
                <a:ea typeface="DM Sans" pitchFamily="34" charset="-122"/>
                <a:cs typeface="DM Sans" pitchFamily="34" charset="-120"/>
              </a:rPr>
              <a:t>From News to Feed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3A18"/>
                </a:solidFill>
                <a:latin typeface="DM Sans" pitchFamily="34" charset="0"/>
                <a:ea typeface="DM Sans" pitchFamily="34" charset="-122"/>
                <a:cs typeface="DM Sans" pitchFamily="34" charset="-120"/>
              </a:rPr>
              <a:t>STEP 5 · CHECK</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F"/>
                </a:solidFill>
                <a:latin typeface="Libre Baskerville" pitchFamily="18" charset="0"/>
                <a:ea typeface="Libre Baskerville" pitchFamily="18" charset="-122"/>
                <a:cs typeface="Libre Baskerville" pitchFamily="18" charset="-120"/>
              </a:rPr>
              <a:t>Accuracy and credit before publishing</a:t>
            </a:r>
            <a:endParaRPr lang="en-US" sz="3600" dirty="0"/>
          </a:p>
        </p:txBody>
      </p:sp>
      <p:sp>
        <p:nvSpPr>
          <p:cNvPr id="4" name="Shape 2"/>
          <p:cNvSpPr/>
          <p:nvPr/>
        </p:nvSpPr>
        <p:spPr>
          <a:xfrm>
            <a:off x="815975" y="1938610"/>
            <a:ext cx="3380317" cy="1363530"/>
          </a:xfrm>
          <a:prstGeom prst="roundRect">
            <a:avLst>
              <a:gd name="adj" fmla="val 7218"/>
            </a:avLst>
          </a:prstGeom>
          <a:solidFill>
            <a:srgbClr val="FFFDF8"/>
          </a:solidFill>
          <a:ln w="6350">
            <a:solidFill>
              <a:srgbClr val="D9CFBC"/>
            </a:solidFill>
            <a:prstDash val="solid"/>
          </a:ln>
        </p:spPr>
      </p:sp>
      <p:pic>
        <p:nvPicPr>
          <p:cNvPr id="5" name="Image 0" descr="Book">    </p:cNvPr>
          <p:cNvPicPr>
            <a:picLocks noChangeAspect="1"/>
          </p:cNvPicPr>
          <p:nvPr/>
        </p:nvPicPr>
        <p:blipFill>
          <a:blip r:embed="rId1"/>
          <a:srcRect l="0" r="0" t="0" b="0"/>
          <a:stretch/>
        </p:blipFill>
        <p:spPr>
          <a:xfrm>
            <a:off x="1045633" y="2168265"/>
            <a:ext cx="304800" cy="304800"/>
          </a:xfrm>
          <a:prstGeom prst="rect">
            <a:avLst/>
          </a:prstGeom>
        </p:spPr>
      </p:pic>
      <p:sp>
        <p:nvSpPr>
          <p:cNvPr id="6" name="Text 3"/>
          <p:cNvSpPr/>
          <p:nvPr/>
        </p:nvSpPr>
        <p:spPr>
          <a:xfrm>
            <a:off x="1045633" y="2574665"/>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81F"/>
                </a:solidFill>
                <a:latin typeface="DM Sans" pitchFamily="34" charset="0"/>
                <a:ea typeface="DM Sans" pitchFamily="34" charset="-122"/>
                <a:cs typeface="DM Sans" pitchFamily="34" charset="-120"/>
              </a:rPr>
              <a:t>Read the original, beyond the headline or press release</a:t>
            </a:r>
            <a:endParaRPr lang="en-US" sz="1400" dirty="0"/>
          </a:p>
        </p:txBody>
      </p:sp>
      <p:sp>
        <p:nvSpPr>
          <p:cNvPr id="7" name="Shape 4"/>
          <p:cNvSpPr/>
          <p:nvPr/>
        </p:nvSpPr>
        <p:spPr>
          <a:xfrm>
            <a:off x="4405842" y="1938610"/>
            <a:ext cx="3380317" cy="1363530"/>
          </a:xfrm>
          <a:prstGeom prst="roundRect">
            <a:avLst>
              <a:gd name="adj" fmla="val 7218"/>
            </a:avLst>
          </a:prstGeom>
          <a:solidFill>
            <a:srgbClr val="FFFDF8"/>
          </a:solidFill>
          <a:ln w="6350">
            <a:solidFill>
              <a:srgbClr val="D9CFBC"/>
            </a:solidFill>
            <a:prstDash val="solid"/>
          </a:ln>
        </p:spPr>
      </p:sp>
      <p:pic>
        <p:nvPicPr>
          <p:cNvPr id="8" name="Image 1" descr="Chart">    </p:cNvPr>
          <p:cNvPicPr>
            <a:picLocks noChangeAspect="1"/>
          </p:cNvPicPr>
          <p:nvPr/>
        </p:nvPicPr>
        <p:blipFill>
          <a:blip r:embed="rId2"/>
          <a:srcRect l="0" r="0" t="0" b="0"/>
          <a:stretch/>
        </p:blipFill>
        <p:spPr>
          <a:xfrm>
            <a:off x="4635500" y="2168265"/>
            <a:ext cx="304800" cy="304800"/>
          </a:xfrm>
          <a:prstGeom prst="rect">
            <a:avLst/>
          </a:prstGeom>
        </p:spPr>
      </p:pic>
      <p:sp>
        <p:nvSpPr>
          <p:cNvPr id="9" name="Text 5"/>
          <p:cNvSpPr/>
          <p:nvPr/>
        </p:nvSpPr>
        <p:spPr>
          <a:xfrm>
            <a:off x="4635500" y="2574665"/>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81F"/>
                </a:solidFill>
                <a:latin typeface="DM Sans" pitchFamily="34" charset="0"/>
                <a:ea typeface="DM Sans" pitchFamily="34" charset="-122"/>
                <a:cs typeface="DM Sans" pitchFamily="34" charset="-120"/>
              </a:rPr>
              <a:t>Give numbers with their unit, sample and timeframe</a:t>
            </a:r>
            <a:endParaRPr lang="en-US" sz="1400" dirty="0"/>
          </a:p>
        </p:txBody>
      </p:sp>
      <p:sp>
        <p:nvSpPr>
          <p:cNvPr id="10" name="Shape 6"/>
          <p:cNvSpPr/>
          <p:nvPr/>
        </p:nvSpPr>
        <p:spPr>
          <a:xfrm>
            <a:off x="7995709" y="1938610"/>
            <a:ext cx="3380317" cy="1363530"/>
          </a:xfrm>
          <a:prstGeom prst="roundRect">
            <a:avLst>
              <a:gd name="adj" fmla="val 7218"/>
            </a:avLst>
          </a:prstGeom>
          <a:solidFill>
            <a:srgbClr val="FFFDF8"/>
          </a:solidFill>
          <a:ln w="6350">
            <a:solidFill>
              <a:srgbClr val="D9CFBC"/>
            </a:solidFill>
            <a:prstDash val="solid"/>
          </a:ln>
        </p:spPr>
      </p:sp>
      <p:pic>
        <p:nvPicPr>
          <p:cNvPr id="11" name="Image 2" descr="Link">    </p:cNvPr>
          <p:cNvPicPr>
            <a:picLocks noChangeAspect="1"/>
          </p:cNvPicPr>
          <p:nvPr/>
        </p:nvPicPr>
        <p:blipFill>
          <a:blip r:embed="rId3"/>
          <a:srcRect l="0" r="0" t="0" b="0"/>
          <a:stretch/>
        </p:blipFill>
        <p:spPr>
          <a:xfrm>
            <a:off x="8225367" y="2168265"/>
            <a:ext cx="304800" cy="304800"/>
          </a:xfrm>
          <a:prstGeom prst="rect">
            <a:avLst/>
          </a:prstGeom>
        </p:spPr>
      </p:pic>
      <p:sp>
        <p:nvSpPr>
          <p:cNvPr id="12" name="Text 7"/>
          <p:cNvSpPr/>
          <p:nvPr/>
        </p:nvSpPr>
        <p:spPr>
          <a:xfrm>
            <a:off x="8225367" y="2574665"/>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81F"/>
                </a:solidFill>
                <a:latin typeface="DM Sans" pitchFamily="34" charset="0"/>
                <a:ea typeface="DM Sans" pitchFamily="34" charset="-122"/>
                <a:cs typeface="DM Sans" pitchFamily="34" charset="-120"/>
              </a:rPr>
              <a:t>Keep "linked to" separate from "causes"</a:t>
            </a:r>
            <a:endParaRPr lang="en-US" sz="1400" dirty="0"/>
          </a:p>
        </p:txBody>
      </p:sp>
      <p:sp>
        <p:nvSpPr>
          <p:cNvPr id="13" name="Shape 8"/>
          <p:cNvSpPr/>
          <p:nvPr/>
        </p:nvSpPr>
        <p:spPr>
          <a:xfrm>
            <a:off x="815975" y="3511686"/>
            <a:ext cx="3380317" cy="1363530"/>
          </a:xfrm>
          <a:prstGeom prst="roundRect">
            <a:avLst>
              <a:gd name="adj" fmla="val 7218"/>
            </a:avLst>
          </a:prstGeom>
          <a:solidFill>
            <a:srgbClr val="FFFDF8"/>
          </a:solidFill>
          <a:ln w="6350">
            <a:solidFill>
              <a:srgbClr val="D9CFBC"/>
            </a:solidFill>
            <a:prstDash val="solid"/>
          </a:ln>
        </p:spPr>
      </p:sp>
      <p:pic>
        <p:nvPicPr>
          <p:cNvPr id="14" name="Image 3" descr="Warning">    </p:cNvPr>
          <p:cNvPicPr>
            <a:picLocks noChangeAspect="1"/>
          </p:cNvPicPr>
          <p:nvPr/>
        </p:nvPicPr>
        <p:blipFill>
          <a:blip r:embed="rId4"/>
          <a:srcRect l="0" r="0" t="0" b="0"/>
          <a:stretch/>
        </p:blipFill>
        <p:spPr>
          <a:xfrm>
            <a:off x="1045633" y="3741341"/>
            <a:ext cx="304800" cy="304800"/>
          </a:xfrm>
          <a:prstGeom prst="rect">
            <a:avLst/>
          </a:prstGeom>
        </p:spPr>
      </p:pic>
      <p:sp>
        <p:nvSpPr>
          <p:cNvPr id="15" name="Text 9"/>
          <p:cNvSpPr/>
          <p:nvPr/>
        </p:nvSpPr>
        <p:spPr>
          <a:xfrm>
            <a:off x="1045633" y="4147741"/>
            <a:ext cx="300863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81F"/>
                </a:solidFill>
                <a:latin typeface="DM Sans" pitchFamily="34" charset="0"/>
                <a:ea typeface="DM Sans" pitchFamily="34" charset="-122"/>
                <a:cs typeface="DM Sans" pitchFamily="34" charset="-120"/>
              </a:rPr>
              <a:t>State the limits the authors state</a:t>
            </a:r>
            <a:endParaRPr lang="en-US" sz="1400" dirty="0"/>
          </a:p>
        </p:txBody>
      </p:sp>
      <p:sp>
        <p:nvSpPr>
          <p:cNvPr id="16" name="Shape 10"/>
          <p:cNvSpPr/>
          <p:nvPr/>
        </p:nvSpPr>
        <p:spPr>
          <a:xfrm>
            <a:off x="4405842" y="3511686"/>
            <a:ext cx="3380317" cy="1363530"/>
          </a:xfrm>
          <a:prstGeom prst="roundRect">
            <a:avLst>
              <a:gd name="adj" fmla="val 7218"/>
            </a:avLst>
          </a:prstGeom>
          <a:solidFill>
            <a:srgbClr val="FFFDF8"/>
          </a:solidFill>
          <a:ln w="6350">
            <a:solidFill>
              <a:srgbClr val="D9CFBC"/>
            </a:solidFill>
            <a:prstDash val="solid"/>
          </a:ln>
        </p:spPr>
      </p:sp>
      <p:pic>
        <p:nvPicPr>
          <p:cNvPr id="17" name="Image 4" descr="Verified">    </p:cNvPr>
          <p:cNvPicPr>
            <a:picLocks noChangeAspect="1"/>
          </p:cNvPicPr>
          <p:nvPr/>
        </p:nvPicPr>
        <p:blipFill>
          <a:blip r:embed="rId5"/>
          <a:srcRect l="0" r="0" t="0" b="0"/>
          <a:stretch/>
        </p:blipFill>
        <p:spPr>
          <a:xfrm>
            <a:off x="4635500" y="3741341"/>
            <a:ext cx="304800" cy="304800"/>
          </a:xfrm>
          <a:prstGeom prst="rect">
            <a:avLst/>
          </a:prstGeom>
        </p:spPr>
      </p:pic>
      <p:sp>
        <p:nvSpPr>
          <p:cNvPr id="18" name="Text 11"/>
          <p:cNvSpPr/>
          <p:nvPr/>
        </p:nvSpPr>
        <p:spPr>
          <a:xfrm>
            <a:off x="4635500" y="4147741"/>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81F"/>
                </a:solidFill>
                <a:latin typeface="DM Sans" pitchFamily="34" charset="0"/>
                <a:ea typeface="DM Sans" pitchFamily="34" charset="-122"/>
                <a:cs typeface="DM Sans" pitchFamily="34" charset="-120"/>
              </a:rPr>
              <a:t>Name and link the source in every format</a:t>
            </a:r>
            <a:endParaRPr lang="en-US" sz="1400" dirty="0"/>
          </a:p>
        </p:txBody>
      </p:sp>
      <p:sp>
        <p:nvSpPr>
          <p:cNvPr id="19" name="Shape 12"/>
          <p:cNvSpPr/>
          <p:nvPr/>
        </p:nvSpPr>
        <p:spPr>
          <a:xfrm>
            <a:off x="7995709" y="3511686"/>
            <a:ext cx="3380317" cy="1363530"/>
          </a:xfrm>
          <a:prstGeom prst="roundRect">
            <a:avLst>
              <a:gd name="adj" fmla="val 7218"/>
            </a:avLst>
          </a:prstGeom>
          <a:solidFill>
            <a:srgbClr val="FFFDF8"/>
          </a:solidFill>
          <a:ln w="6350">
            <a:solidFill>
              <a:srgbClr val="D9CFBC"/>
            </a:solidFill>
            <a:prstDash val="solid"/>
          </a:ln>
        </p:spPr>
      </p:sp>
      <p:pic>
        <p:nvPicPr>
          <p:cNvPr id="20" name="Image 5" descr="Check">    </p:cNvPr>
          <p:cNvPicPr>
            <a:picLocks noChangeAspect="1"/>
          </p:cNvPicPr>
          <p:nvPr/>
        </p:nvPicPr>
        <p:blipFill>
          <a:blip r:embed="rId6"/>
          <a:srcRect l="0" r="0" t="0" b="0"/>
          <a:stretch/>
        </p:blipFill>
        <p:spPr>
          <a:xfrm>
            <a:off x="8225367" y="3741341"/>
            <a:ext cx="304800" cy="304800"/>
          </a:xfrm>
          <a:prstGeom prst="rect">
            <a:avLst/>
          </a:prstGeom>
        </p:spPr>
      </p:pic>
      <p:sp>
        <p:nvSpPr>
          <p:cNvPr id="21" name="Text 13"/>
          <p:cNvSpPr/>
          <p:nvPr/>
        </p:nvSpPr>
        <p:spPr>
          <a:xfrm>
            <a:off x="8225367" y="4147741"/>
            <a:ext cx="3147484"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181F"/>
                </a:solidFill>
                <a:latin typeface="DM Sans" pitchFamily="34" charset="0"/>
                <a:ea typeface="DM Sans" pitchFamily="34" charset="-122"/>
                <a:cs typeface="DM Sans" pitchFamily="34" charset="-120"/>
              </a:rPr>
              <a:t>Correct errors publicly and quickly</a:t>
            </a:r>
            <a:endParaRPr lang="en-US" sz="1400" dirty="0"/>
          </a:p>
        </p:txBody>
      </p:sp>
      <p:sp>
        <p:nvSpPr>
          <p:cNvPr id="22" name="Text 14"/>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849"/>
                </a:solidFill>
                <a:latin typeface="DM Sans" pitchFamily="34" charset="0"/>
                <a:ea typeface="DM Sans" pitchFamily="34" charset="-122"/>
                <a:cs typeface="DM Sans" pitchFamily="34" charset="-120"/>
              </a:rPr>
              <a:t>From News to Feed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A93A18"/>
                </a:solidFill>
                <a:latin typeface="DM Sans" pitchFamily="34" charset="0"/>
                <a:ea typeface="DM Sans" pitchFamily="34" charset="-122"/>
                <a:cs typeface="DM Sans" pitchFamily="34" charset="-120"/>
              </a:rPr>
              <a:t>STEP 6 · PUBLISH</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181F"/>
                </a:solidFill>
                <a:latin typeface="Libre Baskerville" pitchFamily="18" charset="0"/>
                <a:ea typeface="Libre Baskerville" pitchFamily="18" charset="-122"/>
                <a:cs typeface="Libre Baskerville" pitchFamily="18" charset="-120"/>
              </a:rPr>
              <a:t>A weekly repurposing rhythm</a:t>
            </a:r>
            <a:endParaRPr lang="en-US" sz="3600" dirty="0"/>
          </a:p>
        </p:txBody>
      </p:sp>
      <p:sp>
        <p:nvSpPr>
          <p:cNvPr id="4" name="Shape 2"/>
          <p:cNvSpPr/>
          <p:nvPr/>
        </p:nvSpPr>
        <p:spPr>
          <a:xfrm>
            <a:off x="815975" y="1938610"/>
            <a:ext cx="1986690" cy="1800357"/>
          </a:xfrm>
          <a:prstGeom prst="roundRect">
            <a:avLst>
              <a:gd name="adj" fmla="val 5467"/>
            </a:avLst>
          </a:prstGeom>
          <a:solidFill>
            <a:srgbClr val="FFFDF8"/>
          </a:solidFill>
          <a:ln w="6350">
            <a:solidFill>
              <a:srgbClr val="D9CFBC"/>
            </a:solidFill>
            <a:prstDash val="solid"/>
          </a:ln>
        </p:spPr>
      </p:sp>
      <p:sp>
        <p:nvSpPr>
          <p:cNvPr id="5" name="Text 3"/>
          <p:cNvSpPr/>
          <p:nvPr/>
        </p:nvSpPr>
        <p:spPr>
          <a:xfrm>
            <a:off x="1020233" y="2142865"/>
            <a:ext cx="16289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3A18"/>
                </a:solidFill>
                <a:latin typeface="DM Sans" pitchFamily="34" charset="0"/>
                <a:ea typeface="DM Sans" pitchFamily="34" charset="-122"/>
                <a:cs typeface="DM Sans" pitchFamily="34" charset="-120"/>
              </a:rPr>
              <a:t>Monday</a:t>
            </a:r>
            <a:endParaRPr lang="en-US" sz="1200" dirty="0"/>
          </a:p>
        </p:txBody>
      </p:sp>
      <p:sp>
        <p:nvSpPr>
          <p:cNvPr id="6" name="Text 4"/>
          <p:cNvSpPr/>
          <p:nvPr/>
        </p:nvSpPr>
        <p:spPr>
          <a:xfrm>
            <a:off x="1020233" y="2419685"/>
            <a:ext cx="162897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Collect</a:t>
            </a:r>
            <a:endParaRPr lang="en-US" sz="2000" dirty="0"/>
          </a:p>
        </p:txBody>
      </p:sp>
      <p:sp>
        <p:nvSpPr>
          <p:cNvPr id="7" name="Text 5"/>
          <p:cNvSpPr/>
          <p:nvPr/>
        </p:nvSpPr>
        <p:spPr>
          <a:xfrm>
            <a:off x="1020233" y="2787985"/>
            <a:ext cx="1628973"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Scan your sources and pick two stories</a:t>
            </a:r>
            <a:endParaRPr lang="en-US" sz="1400" dirty="0"/>
          </a:p>
        </p:txBody>
      </p:sp>
      <p:sp>
        <p:nvSpPr>
          <p:cNvPr id="8" name="Shape 6"/>
          <p:cNvSpPr/>
          <p:nvPr/>
        </p:nvSpPr>
        <p:spPr>
          <a:xfrm>
            <a:off x="2961415" y="1938610"/>
            <a:ext cx="1986756" cy="1800357"/>
          </a:xfrm>
          <a:prstGeom prst="roundRect">
            <a:avLst>
              <a:gd name="adj" fmla="val 5467"/>
            </a:avLst>
          </a:prstGeom>
          <a:solidFill>
            <a:srgbClr val="FFFDF8"/>
          </a:solidFill>
          <a:ln w="6350">
            <a:solidFill>
              <a:srgbClr val="D9CFBC"/>
            </a:solidFill>
            <a:prstDash val="solid"/>
          </a:ln>
        </p:spPr>
      </p:sp>
      <p:sp>
        <p:nvSpPr>
          <p:cNvPr id="9" name="Text 7"/>
          <p:cNvSpPr/>
          <p:nvPr/>
        </p:nvSpPr>
        <p:spPr>
          <a:xfrm>
            <a:off x="3165673" y="2142865"/>
            <a:ext cx="16290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3A18"/>
                </a:solidFill>
                <a:latin typeface="DM Sans" pitchFamily="34" charset="0"/>
                <a:ea typeface="DM Sans" pitchFamily="34" charset="-122"/>
                <a:cs typeface="DM Sans" pitchFamily="34" charset="-120"/>
              </a:rPr>
              <a:t>Tuesday</a:t>
            </a:r>
            <a:endParaRPr lang="en-US" sz="1200" dirty="0"/>
          </a:p>
        </p:txBody>
      </p:sp>
      <p:sp>
        <p:nvSpPr>
          <p:cNvPr id="10" name="Text 8"/>
          <p:cNvSpPr/>
          <p:nvPr/>
        </p:nvSpPr>
        <p:spPr>
          <a:xfrm>
            <a:off x="3165673" y="2419685"/>
            <a:ext cx="162904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Draft</a:t>
            </a:r>
            <a:endParaRPr lang="en-US" sz="2000" dirty="0"/>
          </a:p>
        </p:txBody>
      </p:sp>
      <p:sp>
        <p:nvSpPr>
          <p:cNvPr id="11" name="Text 9"/>
          <p:cNvSpPr/>
          <p:nvPr/>
        </p:nvSpPr>
        <p:spPr>
          <a:xfrm>
            <a:off x="3165673" y="2787985"/>
            <a:ext cx="1629040"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Extract, choose angles, write the post and thread</a:t>
            </a:r>
            <a:endParaRPr lang="en-US" sz="1400" dirty="0"/>
          </a:p>
        </p:txBody>
      </p:sp>
      <p:sp>
        <p:nvSpPr>
          <p:cNvPr id="12" name="Shape 10"/>
          <p:cNvSpPr/>
          <p:nvPr/>
        </p:nvSpPr>
        <p:spPr>
          <a:xfrm>
            <a:off x="5106922" y="1938610"/>
            <a:ext cx="1986690" cy="1800357"/>
          </a:xfrm>
          <a:prstGeom prst="roundRect">
            <a:avLst>
              <a:gd name="adj" fmla="val 5467"/>
            </a:avLst>
          </a:prstGeom>
          <a:solidFill>
            <a:srgbClr val="FFFDF8"/>
          </a:solidFill>
          <a:ln w="6350">
            <a:solidFill>
              <a:srgbClr val="D9CFBC"/>
            </a:solidFill>
            <a:prstDash val="solid"/>
          </a:ln>
        </p:spPr>
      </p:sp>
      <p:sp>
        <p:nvSpPr>
          <p:cNvPr id="13" name="Text 11"/>
          <p:cNvSpPr/>
          <p:nvPr/>
        </p:nvSpPr>
        <p:spPr>
          <a:xfrm>
            <a:off x="5311180" y="2142865"/>
            <a:ext cx="16289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3A18"/>
                </a:solidFill>
                <a:latin typeface="DM Sans" pitchFamily="34" charset="0"/>
                <a:ea typeface="DM Sans" pitchFamily="34" charset="-122"/>
                <a:cs typeface="DM Sans" pitchFamily="34" charset="-120"/>
              </a:rPr>
              <a:t>Wednesday</a:t>
            </a:r>
            <a:endParaRPr lang="en-US" sz="1200" dirty="0"/>
          </a:p>
        </p:txBody>
      </p:sp>
      <p:sp>
        <p:nvSpPr>
          <p:cNvPr id="14" name="Text 12"/>
          <p:cNvSpPr/>
          <p:nvPr/>
        </p:nvSpPr>
        <p:spPr>
          <a:xfrm>
            <a:off x="5311180" y="2419685"/>
            <a:ext cx="162897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Design</a:t>
            </a:r>
            <a:endParaRPr lang="en-US" sz="2000" dirty="0"/>
          </a:p>
        </p:txBody>
      </p:sp>
      <p:sp>
        <p:nvSpPr>
          <p:cNvPr id="15" name="Text 13"/>
          <p:cNvSpPr/>
          <p:nvPr/>
        </p:nvSpPr>
        <p:spPr>
          <a:xfrm>
            <a:off x="5311180" y="2787985"/>
            <a:ext cx="1628973"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Build the carousel and script the reel</a:t>
            </a:r>
            <a:endParaRPr lang="en-US" sz="1400" dirty="0"/>
          </a:p>
        </p:txBody>
      </p:sp>
      <p:sp>
        <p:nvSpPr>
          <p:cNvPr id="16" name="Shape 14"/>
          <p:cNvSpPr/>
          <p:nvPr/>
        </p:nvSpPr>
        <p:spPr>
          <a:xfrm>
            <a:off x="7252362" y="1938610"/>
            <a:ext cx="1986690" cy="1800357"/>
          </a:xfrm>
          <a:prstGeom prst="roundRect">
            <a:avLst>
              <a:gd name="adj" fmla="val 5467"/>
            </a:avLst>
          </a:prstGeom>
          <a:solidFill>
            <a:srgbClr val="FFFDF8"/>
          </a:solidFill>
          <a:ln w="6350">
            <a:solidFill>
              <a:srgbClr val="D9CFBC"/>
            </a:solidFill>
            <a:prstDash val="solid"/>
          </a:ln>
        </p:spPr>
      </p:sp>
      <p:sp>
        <p:nvSpPr>
          <p:cNvPr id="17" name="Text 15"/>
          <p:cNvSpPr/>
          <p:nvPr/>
        </p:nvSpPr>
        <p:spPr>
          <a:xfrm>
            <a:off x="7456620" y="2142865"/>
            <a:ext cx="16289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3A18"/>
                </a:solidFill>
                <a:latin typeface="DM Sans" pitchFamily="34" charset="0"/>
                <a:ea typeface="DM Sans" pitchFamily="34" charset="-122"/>
                <a:cs typeface="DM Sans" pitchFamily="34" charset="-120"/>
              </a:rPr>
              <a:t>Thursday</a:t>
            </a:r>
            <a:endParaRPr lang="en-US" sz="1200" dirty="0"/>
          </a:p>
        </p:txBody>
      </p:sp>
      <p:sp>
        <p:nvSpPr>
          <p:cNvPr id="18" name="Text 16"/>
          <p:cNvSpPr/>
          <p:nvPr/>
        </p:nvSpPr>
        <p:spPr>
          <a:xfrm>
            <a:off x="7456620" y="2419685"/>
            <a:ext cx="162897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181F"/>
                </a:solidFill>
                <a:latin typeface="DM Sans" pitchFamily="34" charset="0"/>
                <a:ea typeface="DM Sans" pitchFamily="34" charset="-122"/>
                <a:cs typeface="DM Sans" pitchFamily="34" charset="-120"/>
              </a:rPr>
              <a:t>Check</a:t>
            </a:r>
            <a:endParaRPr lang="en-US" sz="2000" dirty="0"/>
          </a:p>
        </p:txBody>
      </p:sp>
      <p:sp>
        <p:nvSpPr>
          <p:cNvPr id="19" name="Text 17"/>
          <p:cNvSpPr/>
          <p:nvPr/>
        </p:nvSpPr>
        <p:spPr>
          <a:xfrm>
            <a:off x="7456620" y="2787985"/>
            <a:ext cx="1628973"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Verify facts, record and schedule</a:t>
            </a:r>
            <a:endParaRPr lang="en-US" sz="1400" dirty="0"/>
          </a:p>
        </p:txBody>
      </p:sp>
      <p:sp>
        <p:nvSpPr>
          <p:cNvPr id="20" name="Shape 18"/>
          <p:cNvSpPr/>
          <p:nvPr/>
        </p:nvSpPr>
        <p:spPr>
          <a:xfrm>
            <a:off x="9394627" y="1935435"/>
            <a:ext cx="1984573" cy="1806707"/>
          </a:xfrm>
          <a:prstGeom prst="roundRect">
            <a:avLst>
              <a:gd name="adj" fmla="val 5623"/>
            </a:avLst>
          </a:prstGeom>
          <a:solidFill>
            <a:srgbClr val="14181F"/>
          </a:solidFill>
          <a:ln/>
        </p:spPr>
      </p:sp>
      <p:sp>
        <p:nvSpPr>
          <p:cNvPr id="21" name="Text 19"/>
          <p:cNvSpPr/>
          <p:nvPr/>
        </p:nvSpPr>
        <p:spPr>
          <a:xfrm>
            <a:off x="9597827" y="2138635"/>
            <a:ext cx="16289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8A5C"/>
                </a:solidFill>
                <a:latin typeface="DM Sans" pitchFamily="34" charset="0"/>
                <a:ea typeface="DM Sans" pitchFamily="34" charset="-122"/>
                <a:cs typeface="DM Sans" pitchFamily="34" charset="-120"/>
              </a:rPr>
              <a:t>Friday</a:t>
            </a:r>
            <a:endParaRPr lang="en-US" sz="1200" dirty="0"/>
          </a:p>
        </p:txBody>
      </p:sp>
      <p:sp>
        <p:nvSpPr>
          <p:cNvPr id="22" name="Text 20"/>
          <p:cNvSpPr/>
          <p:nvPr/>
        </p:nvSpPr>
        <p:spPr>
          <a:xfrm>
            <a:off x="9597827" y="2415456"/>
            <a:ext cx="162897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2EA"/>
                </a:solidFill>
                <a:latin typeface="DM Sans" pitchFamily="34" charset="0"/>
                <a:ea typeface="DM Sans" pitchFamily="34" charset="-122"/>
                <a:cs typeface="DM Sans" pitchFamily="34" charset="-120"/>
              </a:rPr>
              <a:t>Review</a:t>
            </a:r>
            <a:endParaRPr lang="en-US" sz="2000" dirty="0"/>
          </a:p>
        </p:txBody>
      </p:sp>
      <p:sp>
        <p:nvSpPr>
          <p:cNvPr id="23" name="Text 21"/>
          <p:cNvSpPr/>
          <p:nvPr/>
        </p:nvSpPr>
        <p:spPr>
          <a:xfrm>
            <a:off x="9597827" y="2783756"/>
            <a:ext cx="1628973"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8D2C4"/>
                </a:solidFill>
                <a:latin typeface="DM Sans" pitchFamily="34" charset="0"/>
                <a:ea typeface="DM Sans" pitchFamily="34" charset="-122"/>
                <a:cs typeface="DM Sans" pitchFamily="34" charset="-120"/>
              </a:rPr>
              <a:t>Read replies and note what to reuse</a:t>
            </a:r>
            <a:endParaRPr lang="en-US" sz="1400" dirty="0"/>
          </a:p>
        </p:txBody>
      </p:sp>
      <p:sp>
        <p:nvSpPr>
          <p:cNvPr id="24" name="Text 22"/>
          <p:cNvSpPr/>
          <p:nvPr/>
        </p:nvSpPr>
        <p:spPr>
          <a:xfrm>
            <a:off x="812800" y="4046934"/>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150"/>
                </a:solidFill>
                <a:latin typeface="DM Sans" pitchFamily="34" charset="0"/>
                <a:ea typeface="DM Sans" pitchFamily="34" charset="-122"/>
                <a:cs typeface="DM Sans" pitchFamily="34" charset="-120"/>
              </a:rPr>
              <a:t>Spread the four formats across the week so each one links back to the same source.</a:t>
            </a:r>
            <a:endParaRPr lang="en-US" sz="1400" dirty="0"/>
          </a:p>
        </p:txBody>
      </p:sp>
      <p:sp>
        <p:nvSpPr>
          <p:cNvPr id="25" name="Text 23"/>
          <p:cNvSpPr/>
          <p:nvPr/>
        </p:nvSpPr>
        <p:spPr>
          <a:xfrm>
            <a:off x="8128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849"/>
                </a:solidFill>
                <a:latin typeface="DM Sans" pitchFamily="34" charset="0"/>
                <a:ea typeface="DM Sans" pitchFamily="34" charset="-122"/>
                <a:cs typeface="DM Sans" pitchFamily="34" charset="-120"/>
              </a:rPr>
              <a:t>From News to Feed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8A5C"/>
                </a:solidFill>
                <a:latin typeface="DM Sans" pitchFamily="34" charset="0"/>
                <a:ea typeface="DM Sans" pitchFamily="34" charset="-122"/>
                <a:cs typeface="DM Sans" pitchFamily="34" charset="-120"/>
              </a:rPr>
              <a:t>NEXT STEPS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2EA"/>
                </a:solidFill>
                <a:latin typeface="Libre Baskerville" pitchFamily="18" charset="0"/>
                <a:ea typeface="Libre Baskerville" pitchFamily="18" charset="-122"/>
                <a:cs typeface="Libre Baskerville" pitchFamily="18" charset="-120"/>
              </a:rPr>
              <a:t>Three things to do this week</a:t>
            </a:r>
            <a:endParaRPr lang="en-US" sz="3600" dirty="0"/>
          </a:p>
        </p:txBody>
      </p:sp>
      <p:sp>
        <p:nvSpPr>
          <p:cNvPr id="4" name="Shape 2"/>
          <p:cNvSpPr/>
          <p:nvPr/>
        </p:nvSpPr>
        <p:spPr>
          <a:xfrm>
            <a:off x="812800" y="2719722"/>
            <a:ext cx="10566400" cy="0"/>
          </a:xfrm>
          <a:prstGeom prst="line">
            <a:avLst/>
          </a:prstGeom>
          <a:noFill/>
          <a:ln w="6350">
            <a:solidFill>
              <a:srgbClr val="3B4150"/>
            </a:solidFill>
            <a:prstDash val="solid"/>
          </a:ln>
        </p:spPr>
      </p:sp>
      <p:sp>
        <p:nvSpPr>
          <p:cNvPr id="5" name="Text 3"/>
          <p:cNvSpPr/>
          <p:nvPr/>
        </p:nvSpPr>
        <p:spPr>
          <a:xfrm>
            <a:off x="812800" y="2873177"/>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8A5C"/>
                </a:solidFill>
                <a:latin typeface="DM Sans" pitchFamily="34" charset="0"/>
                <a:ea typeface="DM Sans" pitchFamily="34" charset="-122"/>
                <a:cs typeface="DM Sans" pitchFamily="34" charset="-120"/>
              </a:rPr>
              <a:t>1</a:t>
            </a:r>
            <a:endParaRPr lang="en-US" sz="2000" dirty="0"/>
          </a:p>
        </p:txBody>
      </p:sp>
      <p:sp>
        <p:nvSpPr>
          <p:cNvPr id="6" name="Text 4"/>
          <p:cNvSpPr/>
          <p:nvPr/>
        </p:nvSpPr>
        <p:spPr>
          <a:xfrm>
            <a:off x="1422400" y="2873177"/>
            <a:ext cx="1025550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6F2EA"/>
                </a:solidFill>
                <a:latin typeface="DM Sans" pitchFamily="34" charset="0"/>
                <a:ea typeface="DM Sans" pitchFamily="34" charset="-122"/>
                <a:cs typeface="DM Sans" pitchFamily="34" charset="-120"/>
              </a:rPr>
              <a:t>Pick one story and answer the five questions</a:t>
            </a:r>
            <a:endParaRPr lang="en-US" sz="2000" dirty="0"/>
          </a:p>
        </p:txBody>
      </p:sp>
      <p:sp>
        <p:nvSpPr>
          <p:cNvPr id="7" name="Shape 5"/>
          <p:cNvSpPr/>
          <p:nvPr/>
        </p:nvSpPr>
        <p:spPr>
          <a:xfrm>
            <a:off x="812800" y="3384352"/>
            <a:ext cx="10566400" cy="0"/>
          </a:xfrm>
          <a:prstGeom prst="line">
            <a:avLst/>
          </a:prstGeom>
          <a:noFill/>
          <a:ln w="6350">
            <a:solidFill>
              <a:srgbClr val="3B4150"/>
            </a:solidFill>
            <a:prstDash val="solid"/>
          </a:ln>
        </p:spPr>
      </p:sp>
      <p:sp>
        <p:nvSpPr>
          <p:cNvPr id="8" name="Text 6"/>
          <p:cNvSpPr/>
          <p:nvPr/>
        </p:nvSpPr>
        <p:spPr>
          <a:xfrm>
            <a:off x="812800" y="3537818"/>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8A5C"/>
                </a:solidFill>
                <a:latin typeface="DM Sans" pitchFamily="34" charset="0"/>
                <a:ea typeface="DM Sans" pitchFamily="34" charset="-122"/>
                <a:cs typeface="DM Sans" pitchFamily="34" charset="-120"/>
              </a:rPr>
              <a:t>2</a:t>
            </a:r>
            <a:endParaRPr lang="en-US" sz="2000" dirty="0"/>
          </a:p>
        </p:txBody>
      </p:sp>
      <p:sp>
        <p:nvSpPr>
          <p:cNvPr id="9" name="Text 7"/>
          <p:cNvSpPr/>
          <p:nvPr/>
        </p:nvSpPr>
        <p:spPr>
          <a:xfrm>
            <a:off x="1422400" y="3537818"/>
            <a:ext cx="1025550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6F2EA"/>
                </a:solidFill>
                <a:latin typeface="DM Sans" pitchFamily="34" charset="0"/>
                <a:ea typeface="DM Sans" pitchFamily="34" charset="-122"/>
                <a:cs typeface="DM Sans" pitchFamily="34" charset="-120"/>
              </a:rPr>
              <a:t>Publish it in two formats you rarely use</a:t>
            </a:r>
            <a:endParaRPr lang="en-US" sz="2000" dirty="0"/>
          </a:p>
        </p:txBody>
      </p:sp>
      <p:sp>
        <p:nvSpPr>
          <p:cNvPr id="10" name="Shape 8"/>
          <p:cNvSpPr/>
          <p:nvPr/>
        </p:nvSpPr>
        <p:spPr>
          <a:xfrm>
            <a:off x="812800" y="4048993"/>
            <a:ext cx="10566400" cy="0"/>
          </a:xfrm>
          <a:prstGeom prst="line">
            <a:avLst/>
          </a:prstGeom>
          <a:noFill/>
          <a:ln w="6350">
            <a:solidFill>
              <a:srgbClr val="3B4150"/>
            </a:solidFill>
            <a:prstDash val="solid"/>
          </a:ln>
        </p:spPr>
      </p:sp>
      <p:sp>
        <p:nvSpPr>
          <p:cNvPr id="11" name="Text 9"/>
          <p:cNvSpPr/>
          <p:nvPr/>
        </p:nvSpPr>
        <p:spPr>
          <a:xfrm>
            <a:off x="812800" y="4202447"/>
            <a:ext cx="4572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8A5C"/>
                </a:solidFill>
                <a:latin typeface="DM Sans" pitchFamily="34" charset="0"/>
                <a:ea typeface="DM Sans" pitchFamily="34" charset="-122"/>
                <a:cs typeface="DM Sans" pitchFamily="34" charset="-120"/>
              </a:rPr>
              <a:t>3</a:t>
            </a:r>
            <a:endParaRPr lang="en-US" sz="2000" dirty="0"/>
          </a:p>
        </p:txBody>
      </p:sp>
      <p:sp>
        <p:nvSpPr>
          <p:cNvPr id="12" name="Text 10"/>
          <p:cNvSpPr/>
          <p:nvPr/>
        </p:nvSpPr>
        <p:spPr>
          <a:xfrm>
            <a:off x="1422400" y="4202447"/>
            <a:ext cx="10255504"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6F2EA"/>
                </a:solidFill>
                <a:latin typeface="DM Sans" pitchFamily="34" charset="0"/>
                <a:ea typeface="DM Sans" pitchFamily="34" charset="-122"/>
                <a:cs typeface="DM Sans" pitchFamily="34" charset="-120"/>
              </a:rPr>
              <a:t>Compare the results and keep what worked</a:t>
            </a:r>
            <a:endParaRPr lang="en-US" sz="2000" dirty="0"/>
          </a:p>
        </p:txBody>
      </p:sp>
      <p:sp>
        <p:nvSpPr>
          <p:cNvPr id="13" name="Text 11"/>
          <p:cNvSpPr/>
          <p:nvPr/>
        </p:nvSpPr>
        <p:spPr>
          <a:xfrm>
            <a:off x="812800" y="5796297"/>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B2A3"/>
                </a:solidFill>
                <a:latin typeface="DM Sans" pitchFamily="34" charset="0"/>
                <a:ea typeface="DM Sans" pitchFamily="34" charset="-122"/>
                <a:cs typeface="DM Sans" pitchFamily="34" charset="-120"/>
              </a:rPr>
              <a:t>Questions? · [Presenter contact]</a:t>
            </a:r>
            <a:endParaRPr lang="en-US" sz="1400" dirty="0"/>
          </a:p>
        </p:txBody>
      </p:sp>
    </p:spTree>
  </p:cSld>
  <p:clrMapOvr>
    <a:masterClrMapping/>
  </p:clrMapOvr>
</p:sld>
</file>

<file path=ppt/theme/theme1.xml><?xml version="1.0" encoding="utf-8"?>
<a:theme xmlns:a="http://schemas.openxmlformats.org/drawingml/2006/main" name="From News to Feed">
  <a:themeElements>
    <a:clrScheme name="From News to Feed">
      <a:dk1>
        <a:srgbClr val="14181F"/>
      </a:dk1>
      <a:lt1>
        <a:srgbClr val="F6F2EA"/>
      </a:lt1>
      <a:dk2>
        <a:srgbClr val="4D4F52"/>
      </a:dk2>
      <a:lt2>
        <a:srgbClr val="DFDCD6"/>
      </a:lt2>
      <a:accent1>
        <a:srgbClr val="A93A18"/>
      </a:accent1>
      <a:accent2>
        <a:srgbClr val="FF8A5C"/>
      </a:accent2>
      <a:accent3>
        <a:srgbClr val="1F5FBF"/>
      </a:accent3>
      <a:accent4>
        <a:srgbClr val="3B4150"/>
      </a:accent4>
      <a:accent5>
        <a:srgbClr val="5E5849"/>
      </a:accent5>
      <a:accent6>
        <a:srgbClr val="D8D2C4"/>
      </a:accent6>
      <a:hlink>
        <a:srgbClr val="0563C1"/>
      </a:hlink>
      <a:folHlink>
        <a:srgbClr val="954F72"/>
      </a:folHlink>
    </a:clrScheme>
    <a:fontScheme name="From News to Feed">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News to Feed</dc:title>
  <dc:subject/>
  <dc:creator/>
  <cp:lastModifiedBy/>
  <cp:revision>1</cp:revision>
  <dcterms:created xsi:type="dcterms:W3CDTF">2026-10-09T17:14:26Z</dcterms:created>
  <dcterms:modified xsi:type="dcterms:W3CDTF">2026-10-09T17:14:26Z</dcterms:modified>
</cp:coreProperties>
</file>